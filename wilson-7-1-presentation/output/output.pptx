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e9f796d4054e07" /><Relationship Type="http://schemas.openxmlformats.org/officeDocument/2006/relationships/extended-properties" Target="/docProps/app.xml" Id="R7996ed77f6a941ac" /><Relationship Type="http://schemas.openxmlformats.org/officeDocument/2006/relationships/officeDocument" Target="/ppt/presentation.xml" Id="R93a45415839642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5f8f4943724728"/>
  </p:sldMasterIdLst>
  <p:notesMasterIdLst>
    <p:notesMasterId xmlns:r="http://schemas.openxmlformats.org/officeDocument/2006/relationships" r:id="R7e20a87963b2495e"/>
  </p:notesMasterIdLst>
  <p:sldIdLst>
    <p:sldId xmlns:r="http://schemas.openxmlformats.org/officeDocument/2006/relationships" id="256" r:id="R06120414a5b94d99"/>
    <p:sldId xmlns:r="http://schemas.openxmlformats.org/officeDocument/2006/relationships" id="257" r:id="R9a310a04787f4079"/>
    <p:sldId xmlns:r="http://schemas.openxmlformats.org/officeDocument/2006/relationships" id="258" r:id="R5b06a03fdf1646b3"/>
    <p:sldId xmlns:r="http://schemas.openxmlformats.org/officeDocument/2006/relationships" id="259" r:id="R458159e3b5434919"/>
    <p:sldId xmlns:r="http://schemas.openxmlformats.org/officeDocument/2006/relationships" id="260" r:id="R88fbc0414ea34c90"/>
    <p:sldId xmlns:r="http://schemas.openxmlformats.org/officeDocument/2006/relationships" id="261" r:id="R8c138dd2ddc94406"/>
    <p:sldId xmlns:r="http://schemas.openxmlformats.org/officeDocument/2006/relationships" id="262" r:id="R1eecedc6be584b6f"/>
    <p:sldId xmlns:r="http://schemas.openxmlformats.org/officeDocument/2006/relationships" id="263" r:id="R75ed4f43959147b3"/>
    <p:sldId xmlns:r="http://schemas.openxmlformats.org/officeDocument/2006/relationships" id="264" r:id="R17887d566f9d46c6"/>
    <p:sldId xmlns:r="http://schemas.openxmlformats.org/officeDocument/2006/relationships" id="265" r:id="R12b9746ae12d4662"/>
    <p:sldId xmlns:r="http://schemas.openxmlformats.org/officeDocument/2006/relationships" id="266" r:id="R886e4b5076504643"/>
    <p:sldId xmlns:r="http://schemas.openxmlformats.org/officeDocument/2006/relationships" id="267" r:id="Ra19fe2dda9864e4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f8f4943724728" /><Relationship Type="http://schemas.openxmlformats.org/officeDocument/2006/relationships/theme" Target="/ppt/theme/theme1.xml" Id="R47b25ddda7764624" /><Relationship Type="http://schemas.openxmlformats.org/officeDocument/2006/relationships/notesMaster" Target="/ppt/notesMasters/notesMaster1.xml" Id="R7e20a87963b2495e" /><Relationship Type="http://schemas.openxmlformats.org/officeDocument/2006/relationships/presProps" Target="/ppt/presProps.xml" Id="Ra696c9a0d5be4fa4" /><Relationship Type="http://schemas.openxmlformats.org/officeDocument/2006/relationships/viewProps" Target="/ppt/viewProps.xml" Id="R99b267f53de44a57" /><Relationship Type="http://schemas.openxmlformats.org/officeDocument/2006/relationships/tableStyles" Target="/ppt/tableStyles.xml" Id="Rfbcd079f6b684634" /><Relationship Type="http://schemas.openxmlformats.org/officeDocument/2006/relationships/slide" Target="/ppt/slides/slide1.xml" Id="R06120414a5b94d99" /><Relationship Type="http://schemas.openxmlformats.org/officeDocument/2006/relationships/slide" Target="/ppt/slides/slide2.xml" Id="R9a310a04787f4079" /><Relationship Type="http://schemas.openxmlformats.org/officeDocument/2006/relationships/slide" Target="/ppt/slides/slide3.xml" Id="R5b06a03fdf1646b3" /><Relationship Type="http://schemas.openxmlformats.org/officeDocument/2006/relationships/slide" Target="/ppt/slides/slide4.xml" Id="R458159e3b5434919" /><Relationship Type="http://schemas.openxmlformats.org/officeDocument/2006/relationships/slide" Target="/ppt/slides/slide5.xml" Id="R88fbc0414ea34c90" /><Relationship Type="http://schemas.openxmlformats.org/officeDocument/2006/relationships/slide" Target="/ppt/slides/slide6.xml" Id="R8c138dd2ddc94406" /><Relationship Type="http://schemas.openxmlformats.org/officeDocument/2006/relationships/slide" Target="/ppt/slides/slide7.xml" Id="R1eecedc6be584b6f" /><Relationship Type="http://schemas.openxmlformats.org/officeDocument/2006/relationships/slide" Target="/ppt/slides/slide8.xml" Id="R75ed4f43959147b3" /><Relationship Type="http://schemas.openxmlformats.org/officeDocument/2006/relationships/slide" Target="/ppt/slides/slide9.xml" Id="R17887d566f9d46c6" /><Relationship Type="http://schemas.openxmlformats.org/officeDocument/2006/relationships/slide" Target="/ppt/slides/slide10.xml" Id="R12b9746ae12d4662" /><Relationship Type="http://schemas.openxmlformats.org/officeDocument/2006/relationships/slide" Target="/ppt/slides/slide11.xml" Id="R886e4b5076504643" /><Relationship Type="http://schemas.openxmlformats.org/officeDocument/2006/relationships/slide" Target="/ppt/slides/slide12.xml" Id="Ra19fe2dda9864e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392045c8ef04f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ea7f15c334c54" /><Relationship Type="http://schemas.openxmlformats.org/officeDocument/2006/relationships/notesMaster" Target="/ppt/notesMasters/notesMaster1.xml" Id="Rcaa77ba4d56443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04046367344051" /><Relationship Type="http://schemas.openxmlformats.org/officeDocument/2006/relationships/notesMaster" Target="/ppt/notesMasters/notesMaster1.xml" Id="R176b0b45f4c0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3752206be4077" /><Relationship Type="http://schemas.openxmlformats.org/officeDocument/2006/relationships/notesMaster" Target="/ppt/notesMasters/notesMaster1.xml" Id="R4b4e7b857ef642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e2fd41f1d34f95" /><Relationship Type="http://schemas.openxmlformats.org/officeDocument/2006/relationships/notesMaster" Target="/ppt/notesMasters/notesMaster1.xml" Id="Rc8e3305fae6243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ff2f648b634c9e" /><Relationship Type="http://schemas.openxmlformats.org/officeDocument/2006/relationships/notesMaster" Target="/ppt/notesMasters/notesMaster1.xml" Id="R56fb1cd048b844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b30c62c8084cf0" /><Relationship Type="http://schemas.openxmlformats.org/officeDocument/2006/relationships/notesMaster" Target="/ppt/notesMasters/notesMaster1.xml" Id="R7842f348d7f54e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30251450214de5" /><Relationship Type="http://schemas.openxmlformats.org/officeDocument/2006/relationships/notesMaster" Target="/ppt/notesMasters/notesMaster1.xml" Id="R8d4aae76bb5648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a9917fd40f4708" /><Relationship Type="http://schemas.openxmlformats.org/officeDocument/2006/relationships/notesMaster" Target="/ppt/notesMasters/notesMaster1.xml" Id="Re23cc2c53b8f49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160bed037f4c3e" /><Relationship Type="http://schemas.openxmlformats.org/officeDocument/2006/relationships/notesMaster" Target="/ppt/notesMasters/notesMaster1.xml" Id="R5b687785e51c40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04904183054b5c" /><Relationship Type="http://schemas.openxmlformats.org/officeDocument/2006/relationships/notesMaster" Target="/ppt/notesMasters/notesMaster1.xml" Id="Rcb317d6cbfa84a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019a54710644a6" /><Relationship Type="http://schemas.openxmlformats.org/officeDocument/2006/relationships/notesMaster" Target="/ppt/notesMasters/notesMaster1.xml" Id="R690145fd411548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07f6b6d8494764" /><Relationship Type="http://schemas.openxmlformats.org/officeDocument/2006/relationships/notesMaster" Target="/ppt/notesMasters/notesMaster1.xml" Id="R13d17aa2238948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90abcd90f4a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c679501fdeb445a" /><Relationship Type="http://schemas.openxmlformats.org/officeDocument/2006/relationships/slideLayout" Target="/ppt/slideLayouts/slideLayout2.xml" Id="R70a3bcc0b05e4d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a3bcc0b05e4d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e267307b704bda" /><Relationship Type="http://schemas.openxmlformats.org/officeDocument/2006/relationships/notesSlide" Target="/ppt/notesSlides/notesSlide1.xml" Id="R68f4f55899dc4c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7a430321df4aa3" /><Relationship Type="http://schemas.openxmlformats.org/officeDocument/2006/relationships/notesSlide" Target="/ppt/notesSlides/notesSlide2.xml" Id="Rb3db0d3718664c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f1d8645ffd4cc9" /><Relationship Type="http://schemas.openxmlformats.org/officeDocument/2006/relationships/notesSlide" Target="/ppt/notesSlides/notesSlide3.xml" Id="Rf38542492b1b45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d919f11fcd4b13" /><Relationship Type="http://schemas.openxmlformats.org/officeDocument/2006/relationships/notesSlide" Target="/ppt/notesSlides/notesSlide4.xml" Id="R027d1a33ddfb41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d7f01d2c1a48f7" /><Relationship Type="http://schemas.openxmlformats.org/officeDocument/2006/relationships/notesSlide" Target="/ppt/notesSlides/notesSlide5.xml" Id="R091eb0239c4645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5902e8503840cc" /><Relationship Type="http://schemas.openxmlformats.org/officeDocument/2006/relationships/notesSlide" Target="/ppt/notesSlides/notesSlide6.xml" Id="R2962e297c40a4c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93b2e6dba4a56" /><Relationship Type="http://schemas.openxmlformats.org/officeDocument/2006/relationships/notesSlide" Target="/ppt/notesSlides/notesSlide7.xml" Id="Re2b4d826211f4d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e24ec960ce42b1" /><Relationship Type="http://schemas.openxmlformats.org/officeDocument/2006/relationships/notesSlide" Target="/ppt/notesSlides/notesSlide8.xml" Id="Rd401c484ed2145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f9a15ef2f84552" /><Relationship Type="http://schemas.openxmlformats.org/officeDocument/2006/relationships/notesSlide" Target="/ppt/notesSlides/notesSlide9.xml" Id="R3105f5c5bd3a4d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82bfa1f77c4617" /><Relationship Type="http://schemas.openxmlformats.org/officeDocument/2006/relationships/notesSlide" Target="/ppt/notesSlides/notesSlide10.xml" Id="Rb03eeea71bcc49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b4eacf00ae4194" /><Relationship Type="http://schemas.openxmlformats.org/officeDocument/2006/relationships/notesSlide" Target="/ppt/notesSlides/notesSlide11.xml" Id="R9ee4e864cf6b43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d6db56b5864719" /><Relationship Type="http://schemas.openxmlformats.org/officeDocument/2006/relationships/notesSlide" Target="/ppt/notesSlides/notesSlide12.xml" Id="R829e430432d643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CE6BB075-254A-4897-94C2-18ED8926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6270069-E01C-4173-9BD0-F3BF06A8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>
            <a:solidFill>
              <a:srgbClr val="E76F51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5F1779C-FFA4-40AF-B4CF-05578336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028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Step 7.1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2A2DC97-4BF5-444E-B74B-24A5EDE4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664845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263238"/>
                </a:solidFill>
              </a:defRPr>
            </a:pPr>
            <a:r>
              <a:rPr sz="7050" b="1">
                <a:solidFill>
                  <a:srgbClr val="263238"/>
                </a:solidFill>
              </a:rPr>
              <a:t>The letter looks ahead</a:t>
            </a:r>
          </a:p>
        </p:txBody>
      </p:sp>
      <p:sp>
        <p:nvSpPr>
          <p:cNvPr id="5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CFF80C1F-4E6B-43AF-87EB-8F2C1D6B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609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D6D6F"/>
                </a:solidFill>
              </a:defRPr>
            </a:pPr>
            <a:r>
              <a:rPr sz="2550">
                <a:solidFill>
                  <a:srgbClr val="5D6D6F"/>
                </a:solidFill>
              </a:rPr>
              <a:t>Discovering when c says /s/ and g says /j/</a:t>
            </a:r>
          </a:p>
        </p:txBody>
      </p:sp>
      <p:sp>
        <p:nvSpPr>
          <p:cNvPr id="6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80E724F0-D0E7-4DE3-8F89-C70CE9B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24650"/>
            <a:ext cx="2571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6D6F"/>
                </a:solidFill>
              </a:defRPr>
            </a:pPr>
            <a:r>
              <a:rPr sz="1650">
                <a:solidFill>
                  <a:srgbClr val="5D6D6F"/>
                </a:solidFill>
              </a:rPr>
              <a:t>Intro lesson • April 30,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53C2E-E9A8-4EDE-806A-050E371F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57500"/>
            <a:ext cx="8191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006D77"/>
                </a:solidFill>
              </a:defRPr>
            </a:pPr>
            <a:r>
              <a:rPr sz="11250" b="1">
                <a:solidFill>
                  <a:srgbClr val="006D77"/>
                </a:solidFill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50001-6C45-4DCA-A6E9-5B4EC3BE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295650"/>
            <a:ext cx="419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D6D6F"/>
                </a:solidFill>
              </a:defRPr>
            </a:pPr>
            <a:r>
              <a:rPr sz="5400" b="1">
                <a:solidFill>
                  <a:srgbClr val="5D6D6F"/>
                </a:solidFill>
              </a:rPr>
              <a:t>+</a:t>
            </a:r>
          </a:p>
        </p:txBody>
      </p:sp>
      <p:sp>
        <p:nvSpPr>
          <p:cNvPr id="9" name="pill-e">
            <a:extLst xmlns:a="http://schemas.openxmlformats.org/drawingml/2006/main">
              <a:ext uri="{FF2B5EF4-FFF2-40B4-BE49-F238E27FC236}">
                <a16:creationId xmlns:a16="http://schemas.microsoft.com/office/drawing/2014/main" id="{34AFF887-1544-4A13-8E5F-44A4F45D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8753" y="3486150"/>
            <a:ext cx="7239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0" name="pill-text-e">
            <a:extLst xmlns:a="http://schemas.openxmlformats.org/drawingml/2006/main">
              <a:ext uri="{FF2B5EF4-FFF2-40B4-BE49-F238E27FC236}">
                <a16:creationId xmlns:a16="http://schemas.microsoft.com/office/drawing/2014/main" id="{ADAD0E30-5C44-4A15-9C12-EA40FE32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60045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1" name="pill-i">
            <a:extLst xmlns:a="http://schemas.openxmlformats.org/drawingml/2006/main">
              <a:ext uri="{FF2B5EF4-FFF2-40B4-BE49-F238E27FC236}">
                <a16:creationId xmlns:a16="http://schemas.microsoft.com/office/drawing/2014/main" id="{4A5A29A0-BF79-4622-851D-B1C2E883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6003" y="3486150"/>
            <a:ext cx="7239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2" name="pill-text-i">
            <a:extLst xmlns:a="http://schemas.openxmlformats.org/drawingml/2006/main">
              <a:ext uri="{FF2B5EF4-FFF2-40B4-BE49-F238E27FC236}">
                <a16:creationId xmlns:a16="http://schemas.microsoft.com/office/drawing/2014/main" id="{633D008C-A098-45D8-8015-96BDF12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600450"/>
            <a:ext cx="3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pill-y">
            <a:extLst xmlns:a="http://schemas.openxmlformats.org/drawingml/2006/main">
              <a:ext uri="{FF2B5EF4-FFF2-40B4-BE49-F238E27FC236}">
                <a16:creationId xmlns:a16="http://schemas.microsoft.com/office/drawing/2014/main" id="{D09C8AAB-C90E-4627-87C1-F4289A6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3253" y="3486150"/>
            <a:ext cx="7239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4" name="pill-text-y">
            <a:extLst xmlns:a="http://schemas.openxmlformats.org/drawingml/2006/main">
              <a:ext uri="{FF2B5EF4-FFF2-40B4-BE49-F238E27FC236}">
                <a16:creationId xmlns:a16="http://schemas.microsoft.com/office/drawing/2014/main" id="{5959D359-78A6-4E37-96CD-4FACAED6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360045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45E36-AC83-4482-ADD8-9C30F5F0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781300"/>
            <a:ext cx="16764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E76F51"/>
                </a:solidFill>
              </a:defRPr>
            </a:pPr>
            <a:r>
              <a:rPr sz="6150" b="1">
                <a:solidFill>
                  <a:srgbClr val="E76F51"/>
                </a:solidFill>
              </a:rPr>
              <a:t>= /s/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6560B-2887-4917-946A-1F65DA98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95850"/>
            <a:ext cx="8763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4667A4"/>
                </a:solidFill>
              </a:defRPr>
            </a:pPr>
            <a:r>
              <a:rPr sz="11250" b="1">
                <a:solidFill>
                  <a:srgbClr val="4667A4"/>
                </a:solidFill>
              </a:rPr>
              <a:t>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FC342-1141-4817-94F7-4F419FBB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334000"/>
            <a:ext cx="419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D6D6F"/>
                </a:solidFill>
              </a:defRPr>
            </a:pPr>
            <a:r>
              <a:rPr sz="5400" b="1">
                <a:solidFill>
                  <a:srgbClr val="5D6D6F"/>
                </a:solidFill>
              </a:rPr>
              <a:t>+</a:t>
            </a:r>
          </a:p>
        </p:txBody>
      </p:sp>
      <p:sp>
        <p:nvSpPr>
          <p:cNvPr id="18" name="pill-e">
            <a:extLst xmlns:a="http://schemas.openxmlformats.org/drawingml/2006/main">
              <a:ext uri="{FF2B5EF4-FFF2-40B4-BE49-F238E27FC236}">
                <a16:creationId xmlns:a16="http://schemas.microsoft.com/office/drawing/2014/main" id="{1CAD339C-217E-4A53-A1ED-6C8FBFF0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6388" y="5524500"/>
            <a:ext cx="7239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9" name="pill-text-e">
            <a:extLst xmlns:a="http://schemas.openxmlformats.org/drawingml/2006/main">
              <a:ext uri="{FF2B5EF4-FFF2-40B4-BE49-F238E27FC236}">
                <a16:creationId xmlns:a16="http://schemas.microsoft.com/office/drawing/2014/main" id="{F8D6D597-7196-42ED-B9C7-9C6E798E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563880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0" name="pill-i">
            <a:extLst xmlns:a="http://schemas.openxmlformats.org/drawingml/2006/main">
              <a:ext uri="{FF2B5EF4-FFF2-40B4-BE49-F238E27FC236}">
                <a16:creationId xmlns:a16="http://schemas.microsoft.com/office/drawing/2014/main" id="{8D688509-5D2D-471C-A96D-1DD73CF5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638" y="5524500"/>
            <a:ext cx="7239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21" name="pill-text-i">
            <a:extLst xmlns:a="http://schemas.openxmlformats.org/drawingml/2006/main">
              <a:ext uri="{FF2B5EF4-FFF2-40B4-BE49-F238E27FC236}">
                <a16:creationId xmlns:a16="http://schemas.microsoft.com/office/drawing/2014/main" id="{6CDF0AC9-CE58-4809-97B9-B009B89E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5638800"/>
            <a:ext cx="3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2" name="pill-y">
            <a:extLst xmlns:a="http://schemas.openxmlformats.org/drawingml/2006/main">
              <a:ext uri="{FF2B5EF4-FFF2-40B4-BE49-F238E27FC236}">
                <a16:creationId xmlns:a16="http://schemas.microsoft.com/office/drawing/2014/main" id="{06F0983E-60C3-427C-BE40-95DE169E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888" y="5524500"/>
            <a:ext cx="7239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23" name="pill-text-y">
            <a:extLst xmlns:a="http://schemas.openxmlformats.org/drawingml/2006/main">
              <a:ext uri="{FF2B5EF4-FFF2-40B4-BE49-F238E27FC236}">
                <a16:creationId xmlns:a16="http://schemas.microsoft.com/office/drawing/2014/main" id="{824E6BD1-E056-4762-8B4F-879026F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563880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8FBFD-DC3F-4CED-BAFC-4D9E3EF4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5276850"/>
            <a:ext cx="1485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7C5FB3"/>
                </a:solidFill>
              </a:defRPr>
            </a:pPr>
            <a:r>
              <a:rPr sz="6150" b="1">
                <a:solidFill>
                  <a:srgbClr val="7C5FB3"/>
                </a:solidFill>
              </a:rPr>
              <a:t>= /j/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EA158-DF92-4382-943B-15AADF30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858000"/>
            <a:ext cx="6477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Students notice the clue before they name the rule.</a:t>
            </a:r>
          </a:p>
        </p:txBody>
      </p:sp>
    </p:spTree>
    <p:extLst>
      <p:ext uri="{BB962C8B-B14F-4D97-AF65-F5344CB8AC3E}">
        <p14:creationId xmlns:p14="http://schemas.microsoft.com/office/powerpoint/2010/main" val="938983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6BE04B9E-F8ED-4CC8-92E5-084F3351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37FDC86-9226-4AF4-81D3-9F2B6B20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>
            <a:solidFill>
              <a:srgbClr val="006D77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820540-0960-43D6-820A-50BE7734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Lesson map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CC1476-CD0E-4CB1-977D-0EF45432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Today’s flow: students hear it, see it, then explain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9EBD9-203C-448C-AA3E-1ACAE298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60D64-B1CF-4E0F-8DA6-AC1B235B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F1CFE-79A0-4488-9453-F1557A76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B8911-6026-410E-A8C6-AB9F5B2E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Sort, listen, compare. The pattern comes from the words.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A337D-1E5A-432E-8C4F-1D5EFC9B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09A8E-D876-45B7-B61E-05CB77BA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65F30-D313-479E-B2EF-E69775EA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F0150-EB83-4836-B23C-BA58670D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6735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Give the rule only after students can point to the clue.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06F9A-B142-49A3-A87A-65F561C0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7A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5D96E-FC9D-40F7-B601-452BFC8B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674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0814D-C68B-4CDA-9EC9-6EBCD1E5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3410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D4EB9-69FC-4DEB-B175-DFED349E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1510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Read, mark, spell, and explain the choice back.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00ACE-A2EC-4C29-BE3B-6D4EC0C7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0450"/>
            <a:ext cx="8020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C5FB3"/>
                </a:solidFill>
              </a:defRPr>
            </a:pPr>
            <a:r>
              <a:rPr sz="3300" b="1">
                <a:solidFill>
                  <a:srgbClr val="7C5FB3"/>
                </a:solidFill>
              </a:rPr>
              <a:t>Teacher language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FFEA9-BB74-42B6-A668-D50A0EC6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05300"/>
            <a:ext cx="802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What sound does c or g make?</a:t>
            </a:r>
          </a:p>
        </p:txBody>
      </p:sp>
      <p:sp>
        <p:nvSpPr>
          <p:cNvPr id="19" name="pill-listen">
            <a:extLst xmlns:a="http://schemas.openxmlformats.org/drawingml/2006/main">
              <a:ext uri="{FF2B5EF4-FFF2-40B4-BE49-F238E27FC236}">
                <a16:creationId xmlns:a16="http://schemas.microsoft.com/office/drawing/2014/main" id="{640C2DCE-F271-44AE-AF4C-A7761163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0535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FB3"/>
          </a:solidFill>
        </p:spPr>
      </p:sp>
      <p:sp>
        <p:nvSpPr>
          <p:cNvPr id="20" name="pill-text-listen">
            <a:extLst xmlns:a="http://schemas.openxmlformats.org/drawingml/2006/main">
              <a:ext uri="{FF2B5EF4-FFF2-40B4-BE49-F238E27FC236}">
                <a16:creationId xmlns:a16="http://schemas.microsoft.com/office/drawing/2014/main" id="{9AFA70A5-04ED-4D44-BBA2-FBB74E1B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96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BDDB5-4E8F-4CDD-8665-C27B1B31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800600"/>
            <a:ext cx="676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Student says the sound, not just a label.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FE2B6-51D6-40BF-BC31-CE88C769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53050"/>
            <a:ext cx="802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What letter comes right after it?</a:t>
            </a:r>
          </a:p>
        </p:txBody>
      </p:sp>
      <p:sp>
        <p:nvSpPr>
          <p:cNvPr id="23" name="pill-listen">
            <a:extLst xmlns:a="http://schemas.openxmlformats.org/drawingml/2006/main">
              <a:ext uri="{FF2B5EF4-FFF2-40B4-BE49-F238E27FC236}">
                <a16:creationId xmlns:a16="http://schemas.microsoft.com/office/drawing/2014/main" id="{FE0A0B58-C814-4E7A-BBEA-E3AEC90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75310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24" name="pill-text-listen">
            <a:extLst xmlns:a="http://schemas.openxmlformats.org/drawingml/2006/main">
              <a:ext uri="{FF2B5EF4-FFF2-40B4-BE49-F238E27FC236}">
                <a16:creationId xmlns:a16="http://schemas.microsoft.com/office/drawing/2014/main" id="{0277BCF3-0974-4B2B-A15F-2E075A3C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6740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C622B-F7E3-4C11-932A-48C834EC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29300"/>
            <a:ext cx="676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Student finds e, i, or y as the clue.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FD271-0D40-45F6-8543-CB4BABF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802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How do you know?</a:t>
            </a:r>
          </a:p>
        </p:txBody>
      </p:sp>
      <p:sp>
        <p:nvSpPr>
          <p:cNvPr id="27" name="pill-listen">
            <a:extLst xmlns:a="http://schemas.openxmlformats.org/drawingml/2006/main">
              <a:ext uri="{FF2B5EF4-FFF2-40B4-BE49-F238E27FC236}">
                <a16:creationId xmlns:a16="http://schemas.microsoft.com/office/drawing/2014/main" id="{1DEF28BC-896B-4F9B-A6A4-F84B1CA8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680085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28" name="pill-text-listen">
            <a:extLst xmlns:a="http://schemas.openxmlformats.org/drawingml/2006/main">
              <a:ext uri="{FF2B5EF4-FFF2-40B4-BE49-F238E27FC236}">
                <a16:creationId xmlns:a16="http://schemas.microsoft.com/office/drawing/2014/main" id="{7EF79419-B9B2-4895-9C52-8566D33E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151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2FB68-4BDF-4812-AD30-0ABC2B2E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877050"/>
            <a:ext cx="676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Student explains the pattern in their own words.</a:t>
            </a:r>
          </a:p>
        </p:txBody>
      </p:sp>
      <p:sp>
        <p:nvSpPr>
          <p:cNvPr id="3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D09888AE-115D-4845-AA22-58F0F4D0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31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18AEB9D5-3728-49B7-9C93-2EA5E06B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11452617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08E0D090-0CC4-49B3-BB6D-8A02315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F2F08AD-9BB5-466F-BEC0-66294A38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>
            <a:solidFill>
              <a:srgbClr val="F2C14E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DE7BCD-6BE1-4B0C-8753-9A86B6F8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Auditory discovery: hear the switch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736EA9-AAD3-45C6-90FA-27402C89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Say each pair. Students tap or signal the sound they hear for c or g.</a:t>
            </a:r>
          </a:p>
        </p:txBody>
      </p:sp>
      <p:sp>
        <p:nvSpPr>
          <p:cNvPr id="5" name="word-cap">
            <a:extLst xmlns:a="http://schemas.openxmlformats.org/drawingml/2006/main">
              <a:ext uri="{FF2B5EF4-FFF2-40B4-BE49-F238E27FC236}">
                <a16:creationId xmlns:a16="http://schemas.microsoft.com/office/drawing/2014/main" id="{917BEFE1-49A1-4F99-B9F2-1F37D7F9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9020"/>
            <a:ext cx="39719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99418-466C-4AC7-922E-F6FEC5DD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c = /k/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0EAAC-6008-4EBA-A44E-4372A132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cap</a:t>
            </a:r>
          </a:p>
        </p:txBody>
      </p:sp>
      <p:sp>
        <p:nvSpPr>
          <p:cNvPr id="8" name="word-city">
            <a:extLst xmlns:a="http://schemas.openxmlformats.org/drawingml/2006/main">
              <a:ext uri="{FF2B5EF4-FFF2-40B4-BE49-F238E27FC236}">
                <a16:creationId xmlns:a16="http://schemas.microsoft.com/office/drawing/2014/main" id="{183C45B9-BDB7-4153-821F-499E8D35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589020"/>
            <a:ext cx="39719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9D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05183-F21C-4C5B-8C36-FBF19D25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338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c = /s/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5E8C0-2C43-4C7E-BD74-9C72A5C8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2430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city</a:t>
            </a:r>
          </a:p>
        </p:txBody>
      </p:sp>
      <p:sp>
        <p:nvSpPr>
          <p:cNvPr id="11" name="word-got">
            <a:extLst xmlns:a="http://schemas.openxmlformats.org/drawingml/2006/main">
              <a:ext uri="{FF2B5EF4-FFF2-40B4-BE49-F238E27FC236}">
                <a16:creationId xmlns:a16="http://schemas.microsoft.com/office/drawing/2014/main" id="{5FFF461C-6532-4810-972A-DFB85A8E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89020"/>
            <a:ext cx="39719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D5E95-E58E-4E8A-A15A-D3B7F2A4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338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g = /g/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BFE27-EDCD-4666-A65B-146ED0C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2430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got</a:t>
            </a:r>
          </a:p>
        </p:txBody>
      </p:sp>
      <p:sp>
        <p:nvSpPr>
          <p:cNvPr id="14" name="word-gentle">
            <a:extLst xmlns:a="http://schemas.openxmlformats.org/drawingml/2006/main">
              <a:ext uri="{FF2B5EF4-FFF2-40B4-BE49-F238E27FC236}">
                <a16:creationId xmlns:a16="http://schemas.microsoft.com/office/drawing/2014/main" id="{E5A2CC66-A852-4C28-8764-7B67BBDF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3589020"/>
            <a:ext cx="39719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8D56E-5CAA-43A9-89E1-448269D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7338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g = /j/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F40E8-750E-4F2A-96C1-C6225381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92430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gentle</a:t>
            </a:r>
          </a:p>
        </p:txBody>
      </p:sp>
      <p:sp>
        <p:nvSpPr>
          <p:cNvPr id="17" name="word-call">
            <a:extLst xmlns:a="http://schemas.openxmlformats.org/drawingml/2006/main">
              <a:ext uri="{FF2B5EF4-FFF2-40B4-BE49-F238E27FC236}">
                <a16:creationId xmlns:a16="http://schemas.microsoft.com/office/drawing/2014/main" id="{70DB5ECA-4882-4606-9D28-09EE7314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65370"/>
            <a:ext cx="39719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896A8-62FC-4125-A948-0C844DB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c = /k/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EC168-44EC-45D5-B4D9-45D1F54F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call</a:t>
            </a:r>
          </a:p>
        </p:txBody>
      </p:sp>
      <p:sp>
        <p:nvSpPr>
          <p:cNvPr id="20" name="word-cent">
            <a:extLst xmlns:a="http://schemas.openxmlformats.org/drawingml/2006/main">
              <a:ext uri="{FF2B5EF4-FFF2-40B4-BE49-F238E27FC236}">
                <a16:creationId xmlns:a16="http://schemas.microsoft.com/office/drawing/2014/main" id="{D2DD6CD4-CED0-4570-852E-D7EE75F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865370"/>
            <a:ext cx="39719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9D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1FB81-BB8F-4FD0-898A-91D776B7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101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c = /s/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46745-A3B0-479D-BF56-AD8D117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0065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cent</a:t>
            </a:r>
          </a:p>
        </p:txBody>
      </p:sp>
      <p:sp>
        <p:nvSpPr>
          <p:cNvPr id="23" name="word-gum">
            <a:extLst xmlns:a="http://schemas.openxmlformats.org/drawingml/2006/main">
              <a:ext uri="{FF2B5EF4-FFF2-40B4-BE49-F238E27FC236}">
                <a16:creationId xmlns:a16="http://schemas.microsoft.com/office/drawing/2014/main" id="{ECA1985B-73FD-4196-8741-06E549DA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65370"/>
            <a:ext cx="39719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47F35-310C-4AA6-849E-A3905B0C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101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g = /g/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40581-345A-4595-9B84-9AAB4943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0065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gum</a:t>
            </a:r>
          </a:p>
        </p:txBody>
      </p:sp>
      <p:sp>
        <p:nvSpPr>
          <p:cNvPr id="26" name="word-giant">
            <a:extLst xmlns:a="http://schemas.openxmlformats.org/drawingml/2006/main">
              <a:ext uri="{FF2B5EF4-FFF2-40B4-BE49-F238E27FC236}">
                <a16:creationId xmlns:a16="http://schemas.microsoft.com/office/drawing/2014/main" id="{E39291F6-936F-402C-9048-54AB7CA3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4865370"/>
            <a:ext cx="39719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1210D-1AFC-4E69-B3AD-CAA01DD6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0101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g = /j/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5A8FF-335E-4E5E-96BF-6E9C0078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20065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giant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D4BDFE-A64E-46DD-AA7C-601A9FFE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34100"/>
            <a:ext cx="87058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6D77"/>
                </a:solidFill>
              </a:defRPr>
            </a:pPr>
            <a:r>
              <a:rPr sz="3600" b="1">
                <a:solidFill>
                  <a:srgbClr val="006D77"/>
                </a:solidFill>
              </a:rPr>
              <a:t>Discovery question: What changed after the letter?</a:t>
            </a:r>
          </a:p>
        </p:txBody>
      </p:sp>
      <p:sp>
        <p:nvSpPr>
          <p:cNvPr id="3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7F2AE8C4-6BE6-4610-93F4-676698F0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31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AA37870E-81E1-4F84-9B1B-9974665D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4612292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2915143F-DD2E-477B-91D3-6DB4CD46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5C738A8-D8A5-442A-BDE7-D74DF583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>
            <a:solidFill>
              <a:srgbClr val="E76F5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2913DB-915D-4C45-9519-CEFA344E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Sort the cards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0F90F06-2968-495E-82E4-D20C304A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Students read each word, then place it by the sound of c or g.</a:t>
            </a:r>
          </a:p>
        </p:txBody>
      </p:sp>
      <p:sp>
        <p:nvSpPr>
          <p:cNvPr id="5" name="pill-c-k-">
            <a:extLst xmlns:a="http://schemas.openxmlformats.org/drawingml/2006/main">
              <a:ext uri="{FF2B5EF4-FFF2-40B4-BE49-F238E27FC236}">
                <a16:creationId xmlns:a16="http://schemas.microsoft.com/office/drawing/2014/main" id="{F266787F-5DB0-4CA3-8667-658A34A3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895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6" name="pill-text-c-k-">
            <a:extLst xmlns:a="http://schemas.openxmlformats.org/drawingml/2006/main">
              <a:ext uri="{FF2B5EF4-FFF2-40B4-BE49-F238E27FC236}">
                <a16:creationId xmlns:a16="http://schemas.microsoft.com/office/drawing/2014/main" id="{9287A66C-9FD7-416F-B219-E27B0902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 = /k/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DB88D-ADE9-4061-B684-98D1D3D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43100"/>
            <a:ext cx="299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c sound</a:t>
            </a:r>
          </a:p>
        </p:txBody>
      </p:sp>
      <p:sp>
        <p:nvSpPr>
          <p:cNvPr id="8" name="word-call">
            <a:extLst xmlns:a="http://schemas.openxmlformats.org/drawingml/2006/main">
              <a:ext uri="{FF2B5EF4-FFF2-40B4-BE49-F238E27FC236}">
                <a16:creationId xmlns:a16="http://schemas.microsoft.com/office/drawing/2014/main" id="{2CA511B9-070E-40B4-A938-DA1F2471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31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06D77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1A686-A07C-4F4A-9BB1-8AC8B66B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call</a:t>
            </a:r>
          </a:p>
        </p:txBody>
      </p:sp>
      <p:sp>
        <p:nvSpPr>
          <p:cNvPr id="10" name="word-contact">
            <a:extLst xmlns:a="http://schemas.openxmlformats.org/drawingml/2006/main">
              <a:ext uri="{FF2B5EF4-FFF2-40B4-BE49-F238E27FC236}">
                <a16:creationId xmlns:a16="http://schemas.microsoft.com/office/drawing/2014/main" id="{72643B4F-277C-4BA9-87F7-1DD8E3B3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18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06D77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C8019-A063-460F-88EE-95D991A5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contact</a:t>
            </a:r>
          </a:p>
        </p:txBody>
      </p:sp>
      <p:sp>
        <p:nvSpPr>
          <p:cNvPr id="12" name="word-volcano">
            <a:extLst xmlns:a="http://schemas.openxmlformats.org/drawingml/2006/main">
              <a:ext uri="{FF2B5EF4-FFF2-40B4-BE49-F238E27FC236}">
                <a16:creationId xmlns:a16="http://schemas.microsoft.com/office/drawing/2014/main" id="{10EC2F8E-2C93-462D-B0D3-469FEC5A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05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06D77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C0288-4B84-40D2-AB12-90CE2D9F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volcano</a:t>
            </a:r>
          </a:p>
        </p:txBody>
      </p:sp>
      <p:sp>
        <p:nvSpPr>
          <p:cNvPr id="14" name="pill-c-s-">
            <a:extLst xmlns:a="http://schemas.openxmlformats.org/drawingml/2006/main">
              <a:ext uri="{FF2B5EF4-FFF2-40B4-BE49-F238E27FC236}">
                <a16:creationId xmlns:a16="http://schemas.microsoft.com/office/drawing/2014/main" id="{45EBC3CF-BBC6-46ED-8772-EB3942E6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895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15" name="pill-text-c-s-">
            <a:extLst xmlns:a="http://schemas.openxmlformats.org/drawingml/2006/main">
              <a:ext uri="{FF2B5EF4-FFF2-40B4-BE49-F238E27FC236}">
                <a16:creationId xmlns:a16="http://schemas.microsoft.com/office/drawing/2014/main" id="{E29772AC-2F91-46C2-A619-DCEBCCEF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47850"/>
            <a:ext cx="57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 = /s/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B3B98-0256-46D1-AB04-E7DAC384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299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c sound</a:t>
            </a:r>
          </a:p>
        </p:txBody>
      </p:sp>
      <p:sp>
        <p:nvSpPr>
          <p:cNvPr id="17" name="word-cent">
            <a:extLst xmlns:a="http://schemas.openxmlformats.org/drawingml/2006/main">
              <a:ext uri="{FF2B5EF4-FFF2-40B4-BE49-F238E27FC236}">
                <a16:creationId xmlns:a16="http://schemas.microsoft.com/office/drawing/2014/main" id="{437ABDE5-0BAA-41A7-8FEF-BB6CBFB8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231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6F51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29F54-A610-44BD-A4DE-73AB98B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cent</a:t>
            </a:r>
          </a:p>
        </p:txBody>
      </p:sp>
      <p:sp>
        <p:nvSpPr>
          <p:cNvPr id="19" name="word-civil">
            <a:extLst xmlns:a="http://schemas.openxmlformats.org/drawingml/2006/main">
              <a:ext uri="{FF2B5EF4-FFF2-40B4-BE49-F238E27FC236}">
                <a16:creationId xmlns:a16="http://schemas.microsoft.com/office/drawing/2014/main" id="{74C66541-1B80-4FC9-9CAC-642C9ECE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518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6F51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41760-E623-42CF-A17A-37A940A0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civil</a:t>
            </a:r>
          </a:p>
        </p:txBody>
      </p:sp>
      <p:sp>
        <p:nvSpPr>
          <p:cNvPr id="21" name="word-decide">
            <a:extLst xmlns:a="http://schemas.openxmlformats.org/drawingml/2006/main">
              <a:ext uri="{FF2B5EF4-FFF2-40B4-BE49-F238E27FC236}">
                <a16:creationId xmlns:a16="http://schemas.microsoft.com/office/drawing/2014/main" id="{3B11DC73-E710-464F-9E19-946A38D0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05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6F51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07E53-5540-4A81-9713-87AE9539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244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decide</a:t>
            </a:r>
          </a:p>
        </p:txBody>
      </p:sp>
      <p:sp>
        <p:nvSpPr>
          <p:cNvPr id="23" name="pill-g-g-">
            <a:extLst xmlns:a="http://schemas.openxmlformats.org/drawingml/2006/main">
              <a:ext uri="{FF2B5EF4-FFF2-40B4-BE49-F238E27FC236}">
                <a16:creationId xmlns:a16="http://schemas.microsoft.com/office/drawing/2014/main" id="{9649AA93-D6FF-4844-9CD6-C839B5B0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47850"/>
            <a:ext cx="895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7A4"/>
          </a:solidFill>
        </p:spPr>
      </p:sp>
      <p:sp>
        <p:nvSpPr>
          <p:cNvPr id="24" name="pill-text-g-g-">
            <a:extLst xmlns:a="http://schemas.openxmlformats.org/drawingml/2006/main">
              <a:ext uri="{FF2B5EF4-FFF2-40B4-BE49-F238E27FC236}">
                <a16:creationId xmlns:a16="http://schemas.microsoft.com/office/drawing/2014/main" id="{BBB736CE-4A64-4EF5-9F55-71101AB7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609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 = /g/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ECBCA-B5E4-448A-8AE6-646498F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43100"/>
            <a:ext cx="299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g sound</a:t>
            </a:r>
          </a:p>
        </p:txBody>
      </p:sp>
      <p:sp>
        <p:nvSpPr>
          <p:cNvPr id="26" name="word-gum">
            <a:extLst xmlns:a="http://schemas.openxmlformats.org/drawingml/2006/main">
              <a:ext uri="{FF2B5EF4-FFF2-40B4-BE49-F238E27FC236}">
                <a16:creationId xmlns:a16="http://schemas.microsoft.com/office/drawing/2014/main" id="{244C8ACA-7F8B-4D34-AAA8-9E895831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231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4667A4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21952-D6F5-4808-A999-A0CEECB5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gum</a:t>
            </a:r>
          </a:p>
        </p:txBody>
      </p:sp>
      <p:sp>
        <p:nvSpPr>
          <p:cNvPr id="28" name="word-grand">
            <a:extLst xmlns:a="http://schemas.openxmlformats.org/drawingml/2006/main">
              <a:ext uri="{FF2B5EF4-FFF2-40B4-BE49-F238E27FC236}">
                <a16:creationId xmlns:a16="http://schemas.microsoft.com/office/drawing/2014/main" id="{A8800827-9B88-45D6-A9B9-439AB4D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518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4667A4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D28CD-1C11-45C0-9657-54A307BB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957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grand</a:t>
            </a:r>
          </a:p>
        </p:txBody>
      </p:sp>
      <p:sp>
        <p:nvSpPr>
          <p:cNvPr id="30" name="word-golden">
            <a:extLst xmlns:a="http://schemas.openxmlformats.org/drawingml/2006/main">
              <a:ext uri="{FF2B5EF4-FFF2-40B4-BE49-F238E27FC236}">
                <a16:creationId xmlns:a16="http://schemas.microsoft.com/office/drawing/2014/main" id="{86BA0ABB-53BE-45FF-A6D5-E439C284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805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4667A4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C4DBBF-C164-45E8-9712-BA1F9A0E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244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golden</a:t>
            </a:r>
          </a:p>
        </p:txBody>
      </p:sp>
      <p:sp>
        <p:nvSpPr>
          <p:cNvPr id="32" name="pill-g-j-">
            <a:extLst xmlns:a="http://schemas.openxmlformats.org/drawingml/2006/main">
              <a:ext uri="{FF2B5EF4-FFF2-40B4-BE49-F238E27FC236}">
                <a16:creationId xmlns:a16="http://schemas.microsoft.com/office/drawing/2014/main" id="{B47B5F64-FAD5-4DF6-BF08-9ABE65D7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847850"/>
            <a:ext cx="895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FB3"/>
          </a:solidFill>
        </p:spPr>
      </p:sp>
      <p:sp>
        <p:nvSpPr>
          <p:cNvPr id="33" name="pill-text-g-j-">
            <a:extLst xmlns:a="http://schemas.openxmlformats.org/drawingml/2006/main">
              <a:ext uri="{FF2B5EF4-FFF2-40B4-BE49-F238E27FC236}">
                <a16:creationId xmlns:a16="http://schemas.microsoft.com/office/drawing/2014/main" id="{4597F4AE-74B1-4D91-94B6-5D0AF9E4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1847850"/>
            <a:ext cx="53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 = /j/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F6DF65-15E3-462A-B46F-6DB4FD42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1943100"/>
            <a:ext cx="299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g sound</a:t>
            </a:r>
          </a:p>
        </p:txBody>
      </p:sp>
      <p:sp>
        <p:nvSpPr>
          <p:cNvPr id="35" name="word-stage">
            <a:extLst xmlns:a="http://schemas.openxmlformats.org/drawingml/2006/main">
              <a:ext uri="{FF2B5EF4-FFF2-40B4-BE49-F238E27FC236}">
                <a16:creationId xmlns:a16="http://schemas.microsoft.com/office/drawing/2014/main" id="{ABB625E2-F46B-47E3-AAFD-7C4F8AD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4231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7C5FB3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52F082-C9D1-4F02-BAF8-5367D918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6670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stage</a:t>
            </a:r>
          </a:p>
        </p:txBody>
      </p:sp>
      <p:sp>
        <p:nvSpPr>
          <p:cNvPr id="37" name="word-digest">
            <a:extLst xmlns:a="http://schemas.openxmlformats.org/drawingml/2006/main">
              <a:ext uri="{FF2B5EF4-FFF2-40B4-BE49-F238E27FC236}">
                <a16:creationId xmlns:a16="http://schemas.microsoft.com/office/drawing/2014/main" id="{31863849-62E8-4FF0-A5D4-484DFDD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4518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7C5FB3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93828-0798-4E64-BB9D-ADA26C6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6957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digest</a:t>
            </a:r>
          </a:p>
        </p:txBody>
      </p:sp>
      <p:sp>
        <p:nvSpPr>
          <p:cNvPr id="39" name="word-gene">
            <a:extLst xmlns:a="http://schemas.openxmlformats.org/drawingml/2006/main">
              <a:ext uri="{FF2B5EF4-FFF2-40B4-BE49-F238E27FC236}">
                <a16:creationId xmlns:a16="http://schemas.microsoft.com/office/drawing/2014/main" id="{8DA32BD4-3B5D-4592-A0BD-F7FAC7BA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4805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7C5FB3">
              <a:alpha val="13333"/>
            </a:srgbClr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26A556-55C7-49C5-ABE8-07F32C00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7244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gene</a:t>
            </a:r>
          </a:p>
        </p:txBody>
      </p:sp>
      <p:sp>
        <p:nvSpPr>
          <p:cNvPr id="41" name="source-rail">
            <a:extLst xmlns:a="http://schemas.openxmlformats.org/drawingml/2006/main">
              <a:ext uri="{FF2B5EF4-FFF2-40B4-BE49-F238E27FC236}">
                <a16:creationId xmlns:a16="http://schemas.microsoft.com/office/drawing/2014/main" id="{35B0EAC5-8A97-4BA1-A05C-F9E3BBF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42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DF54BBCD-F1BB-4C06-BB95-EA5BE3F6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4191712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B8055588-2430-4ECB-AE90-2082669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43B8A9F3-DB03-4171-89C0-BDEDE728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A4"/>
          </a:solidFill>
          <a:ln xmlns:a="http://schemas.openxmlformats.org/drawingml/2006/main">
            <a:solidFill>
              <a:srgbClr val="4667A4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1E6825-DEDE-4235-87E2-62186D5E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Now name the pattern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DD7D90-7F23-43AE-AECF-1F384E20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The next letter is the clue.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02746-5A43-4989-B04D-5BC4B0B1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8382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006D77"/>
                </a:solidFill>
              </a:defRPr>
            </a:pPr>
            <a:r>
              <a:rPr sz="11250" b="1">
                <a:solidFill>
                  <a:srgbClr val="006D77"/>
                </a:solidFill>
              </a:rPr>
              <a:t>c</a:t>
            </a:r>
          </a:p>
        </p:txBody>
      </p:sp>
      <p:sp>
        <p:nvSpPr>
          <p:cNvPr id="6" name="pill-e">
            <a:extLst xmlns:a="http://schemas.openxmlformats.org/drawingml/2006/main">
              <a:ext uri="{FF2B5EF4-FFF2-40B4-BE49-F238E27FC236}">
                <a16:creationId xmlns:a16="http://schemas.microsoft.com/office/drawing/2014/main" id="{E66D196F-3A84-4E06-853C-6A382B8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38775"/>
            <a:ext cx="819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7" name="pill-text-e">
            <a:extLst xmlns:a="http://schemas.openxmlformats.org/drawingml/2006/main">
              <a:ext uri="{FF2B5EF4-FFF2-40B4-BE49-F238E27FC236}">
                <a16:creationId xmlns:a16="http://schemas.microsoft.com/office/drawing/2014/main" id="{7E32846F-CD8F-4D9A-B3B7-7CF2E074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4355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8" name="pill-i">
            <a:extLst xmlns:a="http://schemas.openxmlformats.org/drawingml/2006/main">
              <a:ext uri="{FF2B5EF4-FFF2-40B4-BE49-F238E27FC236}">
                <a16:creationId xmlns:a16="http://schemas.microsoft.com/office/drawing/2014/main" id="{EAFDE163-74C7-4A27-94F0-C1B8C6C0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38775"/>
            <a:ext cx="819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9" name="pill-text-i">
            <a:extLst xmlns:a="http://schemas.openxmlformats.org/drawingml/2006/main">
              <a:ext uri="{FF2B5EF4-FFF2-40B4-BE49-F238E27FC236}">
                <a16:creationId xmlns:a16="http://schemas.microsoft.com/office/drawing/2014/main" id="{59DC5846-416F-416F-B5CD-92017FA9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43550"/>
            <a:ext cx="3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" name="pill-y">
            <a:extLst xmlns:a="http://schemas.openxmlformats.org/drawingml/2006/main">
              <a:ext uri="{FF2B5EF4-FFF2-40B4-BE49-F238E27FC236}">
                <a16:creationId xmlns:a16="http://schemas.microsoft.com/office/drawing/2014/main" id="{BF349A2B-846B-40E0-8CC0-D0191C3E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38775"/>
            <a:ext cx="819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1" name="pill-text-y">
            <a:extLst xmlns:a="http://schemas.openxmlformats.org/drawingml/2006/main">
              <a:ext uri="{FF2B5EF4-FFF2-40B4-BE49-F238E27FC236}">
                <a16:creationId xmlns:a16="http://schemas.microsoft.com/office/drawing/2014/main" id="{F21781A4-6B13-48A9-8A17-C78DF4C7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4355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16380-5B10-4EC5-81CF-819A2E9A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153150"/>
            <a:ext cx="2057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76F51"/>
                </a:solidFill>
              </a:defRPr>
            </a:pPr>
            <a:r>
              <a:rPr sz="4350" b="1">
                <a:solidFill>
                  <a:srgbClr val="E76F51"/>
                </a:solidFill>
              </a:rPr>
              <a:t>says /s/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7CE8E-520C-4333-AB04-1D125072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0675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D6D6F"/>
                </a:solidFill>
              </a:defRPr>
            </a:pPr>
            <a:r>
              <a:rPr sz="1950">
                <a:solidFill>
                  <a:srgbClr val="5D6D6F"/>
                </a:solidFill>
              </a:rPr>
              <a:t>city • cent • 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D4951-8FCE-4DEB-B44B-8C9369EE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2971800"/>
            <a:ext cx="8763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4667A4"/>
                </a:solidFill>
              </a:defRPr>
            </a:pPr>
            <a:r>
              <a:rPr sz="11250" b="1">
                <a:solidFill>
                  <a:srgbClr val="4667A4"/>
                </a:solidFill>
              </a:rPr>
              <a:t>g</a:t>
            </a:r>
          </a:p>
        </p:txBody>
      </p:sp>
      <p:sp>
        <p:nvSpPr>
          <p:cNvPr id="15" name="pill-e">
            <a:extLst xmlns:a="http://schemas.openxmlformats.org/drawingml/2006/main">
              <a:ext uri="{FF2B5EF4-FFF2-40B4-BE49-F238E27FC236}">
                <a16:creationId xmlns:a16="http://schemas.microsoft.com/office/drawing/2014/main" id="{09DB3BF3-2BC1-4640-8199-4708D971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958715"/>
            <a:ext cx="819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6" name="pill-text-e">
            <a:extLst xmlns:a="http://schemas.openxmlformats.org/drawingml/2006/main">
              <a:ext uri="{FF2B5EF4-FFF2-40B4-BE49-F238E27FC236}">
                <a16:creationId xmlns:a16="http://schemas.microsoft.com/office/drawing/2014/main" id="{40C13A3A-BEBE-45B4-A42D-E9A97ACB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06730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pill-i">
            <a:extLst xmlns:a="http://schemas.openxmlformats.org/drawingml/2006/main">
              <a:ext uri="{FF2B5EF4-FFF2-40B4-BE49-F238E27FC236}">
                <a16:creationId xmlns:a16="http://schemas.microsoft.com/office/drawing/2014/main" id="{48F5229F-A4F7-411F-B804-FD0EADF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4958715"/>
            <a:ext cx="819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8" name="pill-text-i">
            <a:extLst xmlns:a="http://schemas.openxmlformats.org/drawingml/2006/main">
              <a:ext uri="{FF2B5EF4-FFF2-40B4-BE49-F238E27FC236}">
                <a16:creationId xmlns:a16="http://schemas.microsoft.com/office/drawing/2014/main" id="{CDA0AC21-DED3-4D2E-BE37-87102BF5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067300"/>
            <a:ext cx="3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pill-y">
            <a:extLst xmlns:a="http://schemas.openxmlformats.org/drawingml/2006/main">
              <a:ext uri="{FF2B5EF4-FFF2-40B4-BE49-F238E27FC236}">
                <a16:creationId xmlns:a16="http://schemas.microsoft.com/office/drawing/2014/main" id="{49CEB0F5-6677-404A-A5A3-E011D0D1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958715"/>
            <a:ext cx="819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20" name="pill-text-y">
            <a:extLst xmlns:a="http://schemas.openxmlformats.org/drawingml/2006/main">
              <a:ext uri="{FF2B5EF4-FFF2-40B4-BE49-F238E27FC236}">
                <a16:creationId xmlns:a16="http://schemas.microsoft.com/office/drawing/2014/main" id="{A6CB1D41-9DE0-4C55-A2AB-AE08EDB4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06730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DAF8F-FB8D-4EB2-8192-EE26444A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5657850"/>
            <a:ext cx="1905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7C5FB3"/>
                </a:solidFill>
              </a:defRPr>
            </a:pPr>
            <a:r>
              <a:rPr sz="4350" b="1">
                <a:solidFill>
                  <a:srgbClr val="7C5FB3"/>
                </a:solidFill>
              </a:rPr>
              <a:t>says /j/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6067A-F940-4553-B33B-A05A116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258050"/>
            <a:ext cx="2286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D6D6F"/>
                </a:solidFill>
              </a:defRPr>
            </a:pPr>
            <a:r>
              <a:rPr sz="1950">
                <a:solidFill>
                  <a:srgbClr val="5D6D6F"/>
                </a:solidFill>
              </a:rPr>
              <a:t>gentle • magic • gym</a:t>
            </a:r>
          </a:p>
        </p:txBody>
      </p:sp>
      <p:sp>
        <p:nvSpPr>
          <p:cNvPr id="2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64BF641B-C6FA-44E7-AE7E-9AF585B1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24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E77EF057-0BBE-440C-8363-F3FD6EF7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13588389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9200F94E-FB7F-4877-AE3C-C1CDD0A7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5F84161-078A-4EA0-873D-B1E1F44D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FB3"/>
          </a:solidFill>
          <a:ln xmlns:a="http://schemas.openxmlformats.org/drawingml/2006/main">
            <a:solidFill>
              <a:srgbClr val="7C5FB3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07B024-A7EE-424C-B776-3D4B2280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Mark, scoop, read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17ACCF-C6F6-4C92-A02D-81E3460C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Students prove the sound by pointing to the following letter.</a:t>
            </a:r>
          </a:p>
        </p:txBody>
      </p:sp>
      <p:sp>
        <p:nvSpPr>
          <p:cNvPr id="5" name="word-cent">
            <a:extLst xmlns:a="http://schemas.openxmlformats.org/drawingml/2006/main">
              <a:ext uri="{FF2B5EF4-FFF2-40B4-BE49-F238E27FC236}">
                <a16:creationId xmlns:a16="http://schemas.microsoft.com/office/drawing/2014/main" id="{750D8BAA-A8E2-4450-BEA2-B0CDE378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09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9D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99079-A041-4CE6-87C8-832AA3C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/s/ above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22649-5F99-42BD-8EF8-A932E338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cent</a:t>
            </a:r>
          </a:p>
        </p:txBody>
      </p:sp>
      <p:sp>
        <p:nvSpPr>
          <p:cNvPr id="8" name="word-stage">
            <a:extLst xmlns:a="http://schemas.openxmlformats.org/drawingml/2006/main">
              <a:ext uri="{FF2B5EF4-FFF2-40B4-BE49-F238E27FC236}">
                <a16:creationId xmlns:a16="http://schemas.microsoft.com/office/drawing/2014/main" id="{B05CAC8F-9202-419C-9B8C-52136EF0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709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D5B27-B762-4C99-8827-F8F0A5C9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195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/j/ above 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C225E-192F-4E9C-BD69-D1A2ED0B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100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stage</a:t>
            </a:r>
          </a:p>
        </p:txBody>
      </p:sp>
      <p:sp>
        <p:nvSpPr>
          <p:cNvPr id="11" name="word-cycle">
            <a:extLst xmlns:a="http://schemas.openxmlformats.org/drawingml/2006/main">
              <a:ext uri="{FF2B5EF4-FFF2-40B4-BE49-F238E27FC236}">
                <a16:creationId xmlns:a16="http://schemas.microsoft.com/office/drawing/2014/main" id="{01EA1EF6-7623-48EA-8E3B-5BBAD870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709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9D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02903-8C56-4312-B1F5-961217E7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/s/ then /k/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08DCE-1B12-4B05-A52B-11EE3B22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100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cycle</a:t>
            </a:r>
          </a:p>
        </p:txBody>
      </p:sp>
      <p:sp>
        <p:nvSpPr>
          <p:cNvPr id="14" name="word-suggest">
            <a:extLst xmlns:a="http://schemas.openxmlformats.org/drawingml/2006/main">
              <a:ext uri="{FF2B5EF4-FFF2-40B4-BE49-F238E27FC236}">
                <a16:creationId xmlns:a16="http://schemas.microsoft.com/office/drawing/2014/main" id="{91C8313E-32DB-4912-AF7C-D51EFBEA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87096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77E55-B8A1-464D-B672-14C86406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0195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/g/ then /j/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57E60-A52F-4715-8CE5-9CC88061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2100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suggest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16B58-FD53-485D-A288-498EE256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668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BF"/>
          </a:solidFill>
          <a:ln xmlns:a="http://schemas.openxmlformats.org/drawingml/2006/main" w="0">
            <a:solidFill>
              <a:srgbClr val="D8D2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41F6F-1981-4D0D-9E60-59EA9E18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3060"/>
            <a:ext cx="82105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739C1-17BB-446A-A63D-61690C8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7753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238"/>
                </a:solidFill>
              </a:defRPr>
            </a:pPr>
            <a:r>
              <a:rPr sz="3000" b="1">
                <a:solidFill>
                  <a:srgbClr val="263238"/>
                </a:solidFill>
              </a:rPr>
              <a:t>con • cen • trate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87EBE-C403-43BD-84AD-3ED410CB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246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Find both c sounds. Explain each 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37F7D-0728-40FA-A247-7D62F140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33060"/>
            <a:ext cx="82105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7B597-F412-4B39-8FE1-AB06847E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772150"/>
            <a:ext cx="7753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238"/>
                </a:solidFill>
              </a:defRPr>
            </a:pPr>
            <a:r>
              <a:rPr sz="3000" b="1">
                <a:solidFill>
                  <a:srgbClr val="263238"/>
                </a:solidFill>
              </a:rPr>
              <a:t>gi • gan • 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84585-B8E6-4932-AE66-D55B2A74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3246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Scoop first, then mark the g and c.</a:t>
            </a:r>
          </a:p>
        </p:txBody>
      </p:sp>
      <p:sp>
        <p:nvSpPr>
          <p:cNvPr id="24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C8DD4CF-4145-4FAC-9EBF-191C59FF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25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A0979697-1466-4864-A6F2-EC2FDF10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7982468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0FFFACC4-0EE4-4E48-AB4D-4E0A6A75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F6B8E2B-524A-4FC3-A359-9266AE6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>
            <a:solidFill>
              <a:srgbClr val="2A9D8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4C0B21-E74D-4706-AD1E-7396CE32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Notebook anchor: make it portable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7A96C4-1E3B-44D4-8332-22F2E3BB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The notebook becomes the student’s reference, not the teacher’s rescue rope.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81374-7BB7-4A12-B6E1-AF01DC2E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1660"/>
            <a:ext cx="8039100" cy="7124700"/>
          </a:xfrm>
          <a:prstGeom xmlns:a="http://schemas.openxmlformats.org/drawingml/2006/main" prst="roundRect">
            <a:avLst>
              <a:gd name="adj" fmla="val 1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50DF5-2EBA-4DCB-82B9-B5824493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7315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76F51"/>
                </a:solidFill>
              </a:defRPr>
            </a:pPr>
            <a:r>
              <a:rPr sz="1950" b="1">
                <a:solidFill>
                  <a:srgbClr val="E76F51"/>
                </a:solidFill>
              </a:rPr>
              <a:t>Consonants page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EB71B-ECEF-44B9-AC67-B56B5B0A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7315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263238"/>
                </a:solidFill>
              </a:defRPr>
            </a:pPr>
            <a:r>
              <a:rPr sz="2325">
                <a:solidFill>
                  <a:srgbClr val="263238"/>
                </a:solidFill>
              </a:rPr>
              <a:t>c = /k/ and /s/ before e, i, or 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611AD-67F7-488E-ADD5-F91BE0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731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BF"/>
          </a:solidFill>
          <a:ln xmlns:a="http://schemas.openxmlformats.org/drawingml/2006/main" w="0">
            <a:solidFill>
              <a:srgbClr val="D8D2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A5C72-8B52-46F4-888B-62F36BD2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67100"/>
            <a:ext cx="7315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263238"/>
                </a:solidFill>
              </a:defRPr>
            </a:pPr>
            <a:r>
              <a:rPr sz="2325">
                <a:solidFill>
                  <a:srgbClr val="263238"/>
                </a:solidFill>
              </a:rPr>
              <a:t>g = /g/ and /j/ before e, i, or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ED533-538A-4904-8E69-60AF88A6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731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BF"/>
          </a:solidFill>
          <a:ln xmlns:a="http://schemas.openxmlformats.org/drawingml/2006/main" w="0">
            <a:solidFill>
              <a:srgbClr val="D8D2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FA8BD-2C33-4F55-8EAC-DF4820D5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6D6F"/>
                </a:solidFill>
              </a:defRPr>
            </a:pPr>
            <a:r>
              <a:rPr sz="1875">
                <a:solidFill>
                  <a:srgbClr val="5D6D6F"/>
                </a:solidFill>
              </a:rPr>
              <a:t>Practice: cent, 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EC299-DE6F-4B11-8641-3C3E8803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51660"/>
            <a:ext cx="8039100" cy="7124700"/>
          </a:xfrm>
          <a:prstGeom xmlns:a="http://schemas.openxmlformats.org/drawingml/2006/main" prst="roundRect">
            <a:avLst>
              <a:gd name="adj" fmla="val 1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5BBD3-9924-454F-8A44-3234102C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71700"/>
            <a:ext cx="7315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667A4"/>
                </a:solidFill>
              </a:defRPr>
            </a:pPr>
            <a:r>
              <a:rPr sz="1950" b="1">
                <a:solidFill>
                  <a:srgbClr val="4667A4"/>
                </a:solidFill>
              </a:rPr>
              <a:t>Jobs of silent e</a:t>
            </a:r>
          </a:p>
        </p:txBody>
      </p:sp>
      <p:sp>
        <p:nvSpPr>
          <p:cNvPr id="14" name="word-rice">
            <a:extLst xmlns:a="http://schemas.openxmlformats.org/drawingml/2006/main">
              <a:ext uri="{FF2B5EF4-FFF2-40B4-BE49-F238E27FC236}">
                <a16:creationId xmlns:a16="http://schemas.microsoft.com/office/drawing/2014/main" id="{F40C437D-CC9F-43D3-A955-FF68913C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2240"/>
            <a:ext cx="35528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9D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BE22B-C8A3-4753-9385-C29EA9B0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1940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c = /s/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AD63C-91A3-4E33-A81D-A7F6305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990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rice</a:t>
            </a:r>
          </a:p>
        </p:txBody>
      </p:sp>
      <p:sp>
        <p:nvSpPr>
          <p:cNvPr id="17" name="word-page">
            <a:extLst xmlns:a="http://schemas.openxmlformats.org/drawingml/2006/main">
              <a:ext uri="{FF2B5EF4-FFF2-40B4-BE49-F238E27FC236}">
                <a16:creationId xmlns:a16="http://schemas.microsoft.com/office/drawing/2014/main" id="{DCEA1B3A-36A6-4F61-90C2-4FA471A4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2682240"/>
            <a:ext cx="35528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E21EF-6B72-411C-898A-DA46A07D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81940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g = /j/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6FB37-207A-4A86-9470-D5668603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00990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page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FC2A4-4A1E-4FFA-9977-3A125458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90950"/>
            <a:ext cx="731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BF"/>
          </a:solidFill>
          <a:ln xmlns:a="http://schemas.openxmlformats.org/drawingml/2006/main" w="0">
            <a:solidFill>
              <a:srgbClr val="D8D2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83433-A653-47B7-83A5-2D0B41F2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19550"/>
            <a:ext cx="7315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263238"/>
                </a:solidFill>
              </a:defRPr>
            </a:pPr>
            <a:r>
              <a:rPr sz="2325">
                <a:solidFill>
                  <a:srgbClr val="263238"/>
                </a:solidFill>
              </a:rPr>
              <a:t>Student check: read, mark, explain.</a:t>
            </a:r>
          </a:p>
        </p:txBody>
      </p:sp>
      <p:sp>
        <p:nvSpPr>
          <p:cNvPr id="22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60F1A29-89A9-4781-B2B8-3D0F0B02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23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E459A374-FD91-4B30-8444-09B4E328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18159019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C57321A1-E59C-4FFC-A3C5-831B1029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E6499C8-5DD7-4722-9575-3CBE9DEE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>
            <a:solidFill>
              <a:srgbClr val="006D77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FE1D59-E5F6-4BD0-B80E-D57F0CE2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Build bigger words with known parts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24DDC3-A8D7-4054-BCD7-4874B714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Latin bases let students decode and spell by structure, not guessing.</a:t>
            </a:r>
          </a:p>
        </p:txBody>
      </p:sp>
      <p:sp>
        <p:nvSpPr>
          <p:cNvPr id="5" name="pill-re-">
            <a:extLst xmlns:a="http://schemas.openxmlformats.org/drawingml/2006/main">
              <a:ext uri="{FF2B5EF4-FFF2-40B4-BE49-F238E27FC236}">
                <a16:creationId xmlns:a16="http://schemas.microsoft.com/office/drawing/2014/main" id="{0E7E37CE-895C-4DCD-A2E7-E6FDEBA9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6" name="pill-text-re-">
            <a:extLst xmlns:a="http://schemas.openxmlformats.org/drawingml/2006/main">
              <a:ext uri="{FF2B5EF4-FFF2-40B4-BE49-F238E27FC236}">
                <a16:creationId xmlns:a16="http://schemas.microsoft.com/office/drawing/2014/main" id="{2E344F76-C59E-4433-AC29-28D7BB13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266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3A3FC-3639-48C3-89B2-0974725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0"/>
            <a:ext cx="26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D6D6F"/>
                </a:solidFill>
              </a:defRPr>
            </a:pPr>
            <a:r>
              <a:rPr sz="3600" b="1">
                <a:solidFill>
                  <a:srgbClr val="5D6D6F"/>
                </a:solidFill>
              </a:rPr>
              <a:t>+</a:t>
            </a:r>
          </a:p>
        </p:txBody>
      </p:sp>
      <p:sp>
        <p:nvSpPr>
          <p:cNvPr id="8" name="pill--duce-">
            <a:extLst xmlns:a="http://schemas.openxmlformats.org/drawingml/2006/main">
              <a:ext uri="{FF2B5EF4-FFF2-40B4-BE49-F238E27FC236}">
                <a16:creationId xmlns:a16="http://schemas.microsoft.com/office/drawing/2014/main" id="{A6EDE7BB-DC40-4971-AB7A-1E18FFF8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3105150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9" name="pill-text--duce-">
            <a:extLst xmlns:a="http://schemas.openxmlformats.org/drawingml/2006/main">
              <a:ext uri="{FF2B5EF4-FFF2-40B4-BE49-F238E27FC236}">
                <a16:creationId xmlns:a16="http://schemas.microsoft.com/office/drawing/2014/main" id="{13F55EB0-1759-4586-8831-E1A1E3BA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194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-duce-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BEF6D-D7C2-41B3-A6DF-A6185373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22288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63238"/>
                </a:solidFill>
              </a:defRPr>
            </a:pPr>
            <a:r>
              <a:rPr sz="4200" b="1">
                <a:solidFill>
                  <a:srgbClr val="263238"/>
                </a:solidFill>
              </a:rPr>
              <a:t>= reduce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A0318-ECCB-485C-9D4D-816634D4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1085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6D77"/>
                </a:solidFill>
              </a:defRPr>
            </a:pPr>
            <a:r>
              <a:rPr sz="1950">
                <a:solidFill>
                  <a:srgbClr val="006D77"/>
                </a:solidFill>
              </a:rPr>
              <a:t>lead back</a:t>
            </a:r>
          </a:p>
        </p:txBody>
      </p:sp>
      <p:sp>
        <p:nvSpPr>
          <p:cNvPr id="12" name="pill-pro-">
            <a:extLst xmlns:a="http://schemas.openxmlformats.org/drawingml/2006/main">
              <a:ext uri="{FF2B5EF4-FFF2-40B4-BE49-F238E27FC236}">
                <a16:creationId xmlns:a16="http://schemas.microsoft.com/office/drawing/2014/main" id="{99E08DA1-0A97-4BE4-BC7D-4874629A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3" name="pill-text-pro-">
            <a:extLst xmlns:a="http://schemas.openxmlformats.org/drawingml/2006/main">
              <a:ext uri="{FF2B5EF4-FFF2-40B4-BE49-F238E27FC236}">
                <a16:creationId xmlns:a16="http://schemas.microsoft.com/office/drawing/2014/main" id="{32CCC030-3DCA-4408-8220-658E71FB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08CC7-5B0E-4E36-90C8-8CA5C3C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29150"/>
            <a:ext cx="26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D6D6F"/>
                </a:solidFill>
              </a:defRPr>
            </a:pPr>
            <a:r>
              <a:rPr sz="3600" b="1">
                <a:solidFill>
                  <a:srgbClr val="5D6D6F"/>
                </a:solidFill>
              </a:rPr>
              <a:t>+</a:t>
            </a:r>
          </a:p>
        </p:txBody>
      </p:sp>
      <p:sp>
        <p:nvSpPr>
          <p:cNvPr id="15" name="pill--duce-">
            <a:extLst xmlns:a="http://schemas.openxmlformats.org/drawingml/2006/main">
              <a:ext uri="{FF2B5EF4-FFF2-40B4-BE49-F238E27FC236}">
                <a16:creationId xmlns:a16="http://schemas.microsoft.com/office/drawing/2014/main" id="{247DCB42-343C-4C5D-9BBD-53EDC1F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4686300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16" name="pill-text--duce-">
            <a:extLst xmlns:a="http://schemas.openxmlformats.org/drawingml/2006/main">
              <a:ext uri="{FF2B5EF4-FFF2-40B4-BE49-F238E27FC236}">
                <a16:creationId xmlns:a16="http://schemas.microsoft.com/office/drawing/2014/main" id="{ACE58C14-AFF6-438B-B76E-FDBB966A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006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-duce-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4D8EF-7F33-4411-B242-D4E271DA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48150"/>
            <a:ext cx="25717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63238"/>
                </a:solidFill>
              </a:defRPr>
            </a:pPr>
            <a:r>
              <a:rPr sz="4200" b="1">
                <a:solidFill>
                  <a:srgbClr val="263238"/>
                </a:solidFill>
              </a:rPr>
              <a:t>= produce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344A4-AE70-4B69-89F1-2A46958C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43450"/>
            <a:ext cx="104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6D77"/>
                </a:solidFill>
              </a:defRPr>
            </a:pPr>
            <a:r>
              <a:rPr sz="1950">
                <a:solidFill>
                  <a:srgbClr val="006D77"/>
                </a:solidFill>
              </a:rPr>
              <a:t>lead forth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73873-0999-4332-A891-4BEB8E91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668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BF"/>
          </a:solidFill>
          <a:ln xmlns:a="http://schemas.openxmlformats.org/drawingml/2006/main" w="0">
            <a:solidFill>
              <a:srgbClr val="D8D2BF"/>
            </a:solidFill>
            <a:prstDash val="solid"/>
          </a:ln>
        </p:spPr>
      </p:sp>
      <p:sp>
        <p:nvSpPr>
          <p:cNvPr id="20" name="pill--cede-">
            <a:extLst xmlns:a="http://schemas.openxmlformats.org/drawingml/2006/main">
              <a:ext uri="{FF2B5EF4-FFF2-40B4-BE49-F238E27FC236}">
                <a16:creationId xmlns:a16="http://schemas.microsoft.com/office/drawing/2014/main" id="{3313FFBA-C452-4C46-9029-45876178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74105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7A4"/>
          </a:solidFill>
        </p:spPr>
      </p:sp>
      <p:sp>
        <p:nvSpPr>
          <p:cNvPr id="21" name="pill-text--cede-">
            <a:extLst xmlns:a="http://schemas.openxmlformats.org/drawingml/2006/main">
              <a:ext uri="{FF2B5EF4-FFF2-40B4-BE49-F238E27FC236}">
                <a16:creationId xmlns:a16="http://schemas.microsoft.com/office/drawing/2014/main" id="{28A05AC3-50AC-4FE9-A915-7A8312DC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609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-cede-</a:t>
            </a:r>
          </a:p>
        </p:txBody>
      </p:sp>
      <p:sp>
        <p:nvSpPr>
          <p:cNvPr id="22" name="pill--cess-">
            <a:extLst xmlns:a="http://schemas.openxmlformats.org/drawingml/2006/main">
              <a:ext uri="{FF2B5EF4-FFF2-40B4-BE49-F238E27FC236}">
                <a16:creationId xmlns:a16="http://schemas.microsoft.com/office/drawing/2014/main" id="{5B494C7F-931C-4EAB-BED5-AC2138E8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6174105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7A4"/>
          </a:solidFill>
        </p:spPr>
      </p:sp>
      <p:sp>
        <p:nvSpPr>
          <p:cNvPr id="23" name="pill-text--cess-">
            <a:extLst xmlns:a="http://schemas.openxmlformats.org/drawingml/2006/main">
              <a:ext uri="{FF2B5EF4-FFF2-40B4-BE49-F238E27FC236}">
                <a16:creationId xmlns:a16="http://schemas.microsoft.com/office/drawing/2014/main" id="{72822E3F-8227-4539-BA2D-FDE2ACD0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72200"/>
            <a:ext cx="57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-cess-</a:t>
            </a:r>
          </a:p>
        </p:txBody>
      </p:sp>
      <p:sp>
        <p:nvSpPr>
          <p:cNvPr id="24" name="pill--cept-">
            <a:extLst xmlns:a="http://schemas.openxmlformats.org/drawingml/2006/main">
              <a:ext uri="{FF2B5EF4-FFF2-40B4-BE49-F238E27FC236}">
                <a16:creationId xmlns:a16="http://schemas.microsoft.com/office/drawing/2014/main" id="{2068BE33-C60A-46FD-BDCC-A32CA86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174105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FB3"/>
          </a:solidFill>
        </p:spPr>
      </p:sp>
      <p:sp>
        <p:nvSpPr>
          <p:cNvPr id="25" name="pill-text--cept-">
            <a:extLst xmlns:a="http://schemas.openxmlformats.org/drawingml/2006/main">
              <a:ext uri="{FF2B5EF4-FFF2-40B4-BE49-F238E27FC236}">
                <a16:creationId xmlns:a16="http://schemas.microsoft.com/office/drawing/2014/main" id="{3C862F55-07DD-40DE-BE3E-19490F9E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28650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-cept-</a:t>
            </a:r>
          </a:p>
        </p:txBody>
      </p:sp>
      <p:sp>
        <p:nvSpPr>
          <p:cNvPr id="26" name="pill--cite-">
            <a:extLst xmlns:a="http://schemas.openxmlformats.org/drawingml/2006/main">
              <a:ext uri="{FF2B5EF4-FFF2-40B4-BE49-F238E27FC236}">
                <a16:creationId xmlns:a16="http://schemas.microsoft.com/office/drawing/2014/main" id="{43E69E5E-83F0-44CC-AF53-9D762B79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6174105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27" name="pill-text--cite-">
            <a:extLst xmlns:a="http://schemas.openxmlformats.org/drawingml/2006/main">
              <a:ext uri="{FF2B5EF4-FFF2-40B4-BE49-F238E27FC236}">
                <a16:creationId xmlns:a16="http://schemas.microsoft.com/office/drawing/2014/main" id="{3A39E38B-E6DA-4DB6-BE2D-BD7AF09D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628650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-cite-</a:t>
            </a:r>
          </a:p>
        </p:txBody>
      </p:sp>
      <p:sp>
        <p:nvSpPr>
          <p:cNvPr id="28" name="pill--cide-">
            <a:extLst xmlns:a="http://schemas.openxmlformats.org/drawingml/2006/main">
              <a:ext uri="{FF2B5EF4-FFF2-40B4-BE49-F238E27FC236}">
                <a16:creationId xmlns:a16="http://schemas.microsoft.com/office/drawing/2014/main" id="{4460EC9B-7376-46DA-AA6C-4790886C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4655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29" name="pill-text--cide-">
            <a:extLst xmlns:a="http://schemas.openxmlformats.org/drawingml/2006/main">
              <a:ext uri="{FF2B5EF4-FFF2-40B4-BE49-F238E27FC236}">
                <a16:creationId xmlns:a16="http://schemas.microsoft.com/office/drawing/2014/main" id="{98280873-6DB7-4F6B-99D5-990C78A0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762750"/>
            <a:ext cx="53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-cide-</a:t>
            </a:r>
          </a:p>
        </p:txBody>
      </p:sp>
      <p:sp>
        <p:nvSpPr>
          <p:cNvPr id="30" name="pill--cise-">
            <a:extLst xmlns:a="http://schemas.openxmlformats.org/drawingml/2006/main">
              <a:ext uri="{FF2B5EF4-FFF2-40B4-BE49-F238E27FC236}">
                <a16:creationId xmlns:a16="http://schemas.microsoft.com/office/drawing/2014/main" id="{5F875F74-BFF8-4A96-8548-9EBC412F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6764655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31" name="pill-text--cise-">
            <a:extLst xmlns:a="http://schemas.openxmlformats.org/drawingml/2006/main">
              <a:ext uri="{FF2B5EF4-FFF2-40B4-BE49-F238E27FC236}">
                <a16:creationId xmlns:a16="http://schemas.microsoft.com/office/drawing/2014/main" id="{6C08810B-304B-4472-8DDD-BC166F20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762750"/>
            <a:ext cx="53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-cise-</a:t>
            </a:r>
          </a:p>
        </p:txBody>
      </p:sp>
      <p:sp>
        <p:nvSpPr>
          <p:cNvPr id="32" name="pill--scend-">
            <a:extLst xmlns:a="http://schemas.openxmlformats.org/drawingml/2006/main">
              <a:ext uri="{FF2B5EF4-FFF2-40B4-BE49-F238E27FC236}">
                <a16:creationId xmlns:a16="http://schemas.microsoft.com/office/drawing/2014/main" id="{B24175CE-CD88-431B-BB2C-C8CFB0E5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764655"/>
            <a:ext cx="1809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</p:spPr>
      </p:sp>
      <p:sp>
        <p:nvSpPr>
          <p:cNvPr id="33" name="pill-text--scend-">
            <a:extLst xmlns:a="http://schemas.openxmlformats.org/drawingml/2006/main">
              <a:ext uri="{FF2B5EF4-FFF2-40B4-BE49-F238E27FC236}">
                <a16:creationId xmlns:a16="http://schemas.microsoft.com/office/drawing/2014/main" id="{E8FB4734-A876-4E94-A524-1B9BBAA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762750"/>
            <a:ext cx="723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-scend-</a:t>
            </a:r>
          </a:p>
        </p:txBody>
      </p:sp>
      <p:sp>
        <p:nvSpPr>
          <p:cNvPr id="34" name="pill--side-">
            <a:extLst xmlns:a="http://schemas.openxmlformats.org/drawingml/2006/main">
              <a:ext uri="{FF2B5EF4-FFF2-40B4-BE49-F238E27FC236}">
                <a16:creationId xmlns:a16="http://schemas.microsoft.com/office/drawing/2014/main" id="{D6281813-5D0E-4E56-99C9-01DD6A86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6764655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35" name="pill-text--side-">
            <a:extLst xmlns:a="http://schemas.openxmlformats.org/drawingml/2006/main">
              <a:ext uri="{FF2B5EF4-FFF2-40B4-BE49-F238E27FC236}">
                <a16:creationId xmlns:a16="http://schemas.microsoft.com/office/drawing/2014/main" id="{C1843D22-0C3A-42C4-A3C3-2C173674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6762750"/>
            <a:ext cx="53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-side-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4BF7A8-F8A7-4A22-9654-8F1E6424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05700"/>
            <a:ext cx="9277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D6D6F"/>
                </a:solidFill>
              </a:defRPr>
            </a:pPr>
            <a:r>
              <a:rPr sz="2100" b="1">
                <a:solidFill>
                  <a:srgbClr val="5D6D6F"/>
                </a:solidFill>
              </a:rPr>
              <a:t>For today: emphasize reading and spelling first; meaning grows with use.</a:t>
            </a:r>
          </a:p>
        </p:txBody>
      </p:sp>
      <p:sp>
        <p:nvSpPr>
          <p:cNvPr id="3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E32308C5-8FE6-494E-AD4F-6C12C798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38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FAD6851F-53F5-440B-90E3-374D96E3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19297283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05F91A68-CE56-4952-84E0-589E902A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F335716-A108-4E5F-AD94-264AD008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>
            <a:solidFill>
              <a:srgbClr val="F2C14E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149B32-C3E4-482B-8C70-8BA9EA5C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Spelling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D7DE0E-CDA0-43D5-AB07-87FAAF9F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Use a blank tile to slow down the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D61A3-5DD7-4A70-BBFD-83E1C0F3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388FA-35F3-4253-B845-53E494A3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D3659-6EE5-41D9-B5B8-D4786078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7505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Repeat and tap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D3D18-1005-4D61-95D9-91D989F8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750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Where is the sound with more than one spelling?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3BCE5-6AE3-4CE5-9392-CBE183BA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265FB-E72D-410B-BA29-517739F8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C5336-101E-45FA-859B-658D685A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7505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Place a blank tile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E53C5-7069-4A92-A1E2-1463D98E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750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The blank marks the decision spot.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E2C51-0D23-4E13-BEF4-66F840CA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E9A51-B343-4594-B89B-5C938EEA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594A3-98ED-41E6-AA21-A47C22B9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7505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List the options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6D88A-5906-41A5-8A65-7A281DC1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43600"/>
            <a:ext cx="750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/s/ can be s or c. /j/ can be j or 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F9933-1383-48FA-82D1-21FCB80D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7A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3CFC1-F6A8-4F14-BCE3-0C61650E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484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9A5C7-560B-48F5-A16E-B31DA8D3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15100"/>
            <a:ext cx="7505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Verify and spell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14F81-5D24-4083-96A5-ED70A7CD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896100"/>
            <a:ext cx="750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Use a dictionary or spell-checking technology, then orally spell.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D0EE2-91D7-469F-AA9C-20E8C664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43250"/>
            <a:ext cx="4000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263238"/>
                </a:solidFill>
              </a:defRPr>
            </a:pPr>
            <a:r>
              <a:rPr sz="7200" b="1">
                <a:solidFill>
                  <a:srgbClr val="263238"/>
                </a:solidFill>
              </a:rPr>
              <a:t>cinch</a:t>
            </a:r>
          </a:p>
        </p:txBody>
      </p:sp>
      <p:sp>
        <p:nvSpPr>
          <p:cNvPr id="22" name="pill-s">
            <a:extLst xmlns:a="http://schemas.openxmlformats.org/drawingml/2006/main">
              <a:ext uri="{FF2B5EF4-FFF2-40B4-BE49-F238E27FC236}">
                <a16:creationId xmlns:a16="http://schemas.microsoft.com/office/drawing/2014/main" id="{3D6DB75B-0AF3-46FB-9A3D-1FAC9CE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901" y="4495800"/>
            <a:ext cx="7048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23" name="pill-text-s">
            <a:extLst xmlns:a="http://schemas.openxmlformats.org/drawingml/2006/main">
              <a:ext uri="{FF2B5EF4-FFF2-40B4-BE49-F238E27FC236}">
                <a16:creationId xmlns:a16="http://schemas.microsoft.com/office/drawing/2014/main" id="{21BFED19-6B32-44F6-A231-57838F7B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1010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4" name="pill-c">
            <a:extLst xmlns:a="http://schemas.openxmlformats.org/drawingml/2006/main">
              <a:ext uri="{FF2B5EF4-FFF2-40B4-BE49-F238E27FC236}">
                <a16:creationId xmlns:a16="http://schemas.microsoft.com/office/drawing/2014/main" id="{1AF2ECB1-2CD5-4663-AC7B-E9B49C72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151" y="4495800"/>
            <a:ext cx="7048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25" name="pill-text-c">
            <a:extLst xmlns:a="http://schemas.openxmlformats.org/drawingml/2006/main">
              <a:ext uri="{FF2B5EF4-FFF2-40B4-BE49-F238E27FC236}">
                <a16:creationId xmlns:a16="http://schemas.microsoft.com/office/drawing/2014/main" id="{3AE0F42C-FCB8-4ACE-9806-3B2FE7F3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1010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436F4-0800-497F-A70D-5443D860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95800"/>
            <a:ext cx="68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for /s/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D7F32-0029-4D28-8E9D-F0021D8F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181600"/>
            <a:ext cx="4000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263238"/>
                </a:solidFill>
              </a:defRPr>
            </a:pPr>
            <a:r>
              <a:rPr sz="7200" b="1">
                <a:solidFill>
                  <a:srgbClr val="263238"/>
                </a:solidFill>
              </a:rPr>
              <a:t>page</a:t>
            </a:r>
          </a:p>
        </p:txBody>
      </p:sp>
      <p:sp>
        <p:nvSpPr>
          <p:cNvPr id="28" name="pill-j">
            <a:extLst xmlns:a="http://schemas.openxmlformats.org/drawingml/2006/main">
              <a:ext uri="{FF2B5EF4-FFF2-40B4-BE49-F238E27FC236}">
                <a16:creationId xmlns:a16="http://schemas.microsoft.com/office/drawing/2014/main" id="{A8E8A2E3-3884-43DE-9F94-591C15D4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901" y="6526530"/>
            <a:ext cx="7048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FB3"/>
          </a:solidFill>
        </p:spPr>
      </p:sp>
      <p:sp>
        <p:nvSpPr>
          <p:cNvPr id="29" name="pill-text-j">
            <a:extLst xmlns:a="http://schemas.openxmlformats.org/drawingml/2006/main">
              <a:ext uri="{FF2B5EF4-FFF2-40B4-BE49-F238E27FC236}">
                <a16:creationId xmlns:a16="http://schemas.microsoft.com/office/drawing/2014/main" id="{82F36690-9C93-4B1C-BC9A-6228FE7D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629400"/>
            <a:ext cx="3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30" name="pill-g">
            <a:extLst xmlns:a="http://schemas.openxmlformats.org/drawingml/2006/main">
              <a:ext uri="{FF2B5EF4-FFF2-40B4-BE49-F238E27FC236}">
                <a16:creationId xmlns:a16="http://schemas.microsoft.com/office/drawing/2014/main" id="{FC42949A-5DF9-49FE-A759-BC3B8692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151" y="6526530"/>
            <a:ext cx="7048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FB3"/>
          </a:solidFill>
        </p:spPr>
      </p:sp>
      <p:sp>
        <p:nvSpPr>
          <p:cNvPr id="31" name="pill-text-g">
            <a:extLst xmlns:a="http://schemas.openxmlformats.org/drawingml/2006/main">
              <a:ext uri="{FF2B5EF4-FFF2-40B4-BE49-F238E27FC236}">
                <a16:creationId xmlns:a16="http://schemas.microsoft.com/office/drawing/2014/main" id="{186582C8-4C76-44A4-9202-2460DB42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62940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53151E-28B8-4BF2-B293-79A03A9F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34150"/>
            <a:ext cx="609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for /j/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7C5EF-A1C0-4EDD-9025-13D0283E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914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67A4"/>
                </a:solidFill>
              </a:defRPr>
            </a:pPr>
            <a:r>
              <a:rPr sz="1875" b="1">
                <a:solidFill>
                  <a:srgbClr val="4667A4"/>
                </a:solidFill>
              </a:rPr>
              <a:t>Reminder: English words do not end with j.</a:t>
            </a:r>
          </a:p>
        </p:txBody>
      </p:sp>
      <p:sp>
        <p:nvSpPr>
          <p:cNvPr id="34" name="source-rail">
            <a:extLst xmlns:a="http://schemas.openxmlformats.org/drawingml/2006/main">
              <a:ext uri="{FF2B5EF4-FFF2-40B4-BE49-F238E27FC236}">
                <a16:creationId xmlns:a16="http://schemas.microsoft.com/office/drawing/2014/main" id="{7492F7DE-9C8D-490B-B84E-673590C1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35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6A1CEC01-AE53-46FF-BC73-DF0CD761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11684991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7AD9BF50-E1F1-4FC9-9DBC-3069907E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C286FD6-CC2F-4141-B76D-B4B54F09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FB3"/>
          </a:solidFill>
          <a:ln xmlns:a="http://schemas.openxmlformats.org/drawingml/2006/main">
            <a:solidFill>
              <a:srgbClr val="7C5FB3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884222-6A2A-4890-A73F-2CD95F01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One syllable at a time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2434058-28AF-4806-A6E5-C80049F6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Keep the discovery visible while the word gets longer.</a:t>
            </a:r>
          </a:p>
        </p:txBody>
      </p:sp>
      <p:sp>
        <p:nvSpPr>
          <p:cNvPr id="5" name="word-gen">
            <a:extLst xmlns:a="http://schemas.openxmlformats.org/drawingml/2006/main">
              <a:ext uri="{FF2B5EF4-FFF2-40B4-BE49-F238E27FC236}">
                <a16:creationId xmlns:a16="http://schemas.microsoft.com/office/drawing/2014/main" id="{A370BA60-FF59-4291-BA4C-F1B586E5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679513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37EAF-AEB2-4A5D-9216-2149170E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640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syllable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0A210-51AB-442F-A016-42619FC9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640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8EB4F-8EC1-473A-97DB-25619590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26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D6D6F"/>
                </a:solidFill>
              </a:defRPr>
            </a:pPr>
            <a:r>
              <a:rPr sz="3600" b="1">
                <a:solidFill>
                  <a:srgbClr val="5D6D6F"/>
                </a:solidFill>
              </a:rPr>
              <a:t>+</a:t>
            </a:r>
          </a:p>
        </p:txBody>
      </p:sp>
      <p:sp>
        <p:nvSpPr>
          <p:cNvPr id="9" name="word-tle">
            <a:extLst xmlns:a="http://schemas.openxmlformats.org/drawingml/2006/main">
              <a:ext uri="{FF2B5EF4-FFF2-40B4-BE49-F238E27FC236}">
                <a16:creationId xmlns:a16="http://schemas.microsoft.com/office/drawing/2014/main" id="{B2EFE71D-2F89-4728-81F4-002009B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655" y="3676650"/>
            <a:ext cx="679513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7067D-0A7E-456C-832A-620BFF6C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640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6D77"/>
                </a:solidFill>
              </a:defRPr>
            </a:pPr>
            <a:r>
              <a:rPr sz="1125" b="1">
                <a:solidFill>
                  <a:srgbClr val="006D77"/>
                </a:solidFill>
              </a:rPr>
              <a:t>syllable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1DE49-D625-45FE-BB27-8B7D8150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640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B6C0-9A2A-4E7A-A95A-84AD2E2A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3448050"/>
            <a:ext cx="21907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63238"/>
                </a:solidFill>
              </a:defRPr>
            </a:pPr>
            <a:r>
              <a:rPr sz="4500" b="1">
                <a:solidFill>
                  <a:srgbClr val="263238"/>
                </a:solidFill>
              </a:rPr>
              <a:t>= gentle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5A1E4-5D35-40CF-9A92-5D4CACE2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537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Which syllable has the spelling option?</a:t>
            </a:r>
          </a:p>
        </p:txBody>
      </p:sp>
      <p:sp>
        <p:nvSpPr>
          <p:cNvPr id="14" name="pill-listen">
            <a:extLst xmlns:a="http://schemas.openxmlformats.org/drawingml/2006/main">
              <a:ext uri="{FF2B5EF4-FFF2-40B4-BE49-F238E27FC236}">
                <a16:creationId xmlns:a16="http://schemas.microsoft.com/office/drawing/2014/main" id="{064CF621-141E-40FE-B960-C8EC7201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7A4"/>
          </a:solidFill>
        </p:spPr>
      </p:sp>
      <p:sp>
        <p:nvSpPr>
          <p:cNvPr id="15" name="pill-text-listen">
            <a:extLst xmlns:a="http://schemas.openxmlformats.org/drawingml/2006/main">
              <a:ext uri="{FF2B5EF4-FFF2-40B4-BE49-F238E27FC236}">
                <a16:creationId xmlns:a16="http://schemas.microsoft.com/office/drawing/2014/main" id="{6D842E7D-6462-4477-9CA5-7D376BF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EC60A-7E31-4625-B3D8-032DA544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38800"/>
            <a:ext cx="411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Point to gen.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2B73C-E37E-405F-A753-DE7F70D8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537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Which sound has the option?</a:t>
            </a:r>
          </a:p>
        </p:txBody>
      </p:sp>
      <p:sp>
        <p:nvSpPr>
          <p:cNvPr id="18" name="pill-listen">
            <a:extLst xmlns:a="http://schemas.openxmlformats.org/drawingml/2006/main">
              <a:ext uri="{FF2B5EF4-FFF2-40B4-BE49-F238E27FC236}">
                <a16:creationId xmlns:a16="http://schemas.microsoft.com/office/drawing/2014/main" id="{D9F538DE-A540-4A23-AE4D-E435C63A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FB3"/>
          </a:solidFill>
        </p:spPr>
      </p:sp>
      <p:sp>
        <p:nvSpPr>
          <p:cNvPr id="19" name="pill-text-listen">
            <a:extLst xmlns:a="http://schemas.openxmlformats.org/drawingml/2006/main">
              <a:ext uri="{FF2B5EF4-FFF2-40B4-BE49-F238E27FC236}">
                <a16:creationId xmlns:a16="http://schemas.microsoft.com/office/drawing/2014/main" id="{37501D3C-9C68-4B3B-BDD9-88B1698B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7690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CFBED-B801-48E4-B58C-1DAD1137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411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The first sound: /j/.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21FDB-15B0-4CB6-9C74-72DDF2BE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162550"/>
            <a:ext cx="537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What are the choices?</a:t>
            </a:r>
          </a:p>
        </p:txBody>
      </p:sp>
      <p:sp>
        <p:nvSpPr>
          <p:cNvPr id="22" name="pill-listen">
            <a:extLst xmlns:a="http://schemas.openxmlformats.org/drawingml/2006/main">
              <a:ext uri="{FF2B5EF4-FFF2-40B4-BE49-F238E27FC236}">
                <a16:creationId xmlns:a16="http://schemas.microsoft.com/office/drawing/2014/main" id="{22762C2B-7CE3-4792-BE4A-C337B3B0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56260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23" name="pill-text-listen">
            <a:extLst xmlns:a="http://schemas.openxmlformats.org/drawingml/2006/main">
              <a:ext uri="{FF2B5EF4-FFF2-40B4-BE49-F238E27FC236}">
                <a16:creationId xmlns:a16="http://schemas.microsoft.com/office/drawing/2014/main" id="{C081F5CF-25A4-45A9-BDD4-D669EB89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67690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BFF0F-0E2E-4A2C-BF2D-60BD2D55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5638800"/>
            <a:ext cx="411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j or g; verify, then spell.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54C65-6D73-4F81-B33D-1020AFCC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92202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76F51"/>
                </a:solidFill>
              </a:defRPr>
            </a:pPr>
            <a:r>
              <a:rPr sz="3450" b="1">
                <a:solidFill>
                  <a:srgbClr val="E76F51"/>
                </a:solidFill>
              </a:rPr>
              <a:t>Then read the full word back while scooping the syllables.</a:t>
            </a:r>
          </a:p>
        </p:txBody>
      </p:sp>
      <p:sp>
        <p:nvSpPr>
          <p:cNvPr id="26" name="source-rail">
            <a:extLst xmlns:a="http://schemas.openxmlformats.org/drawingml/2006/main">
              <a:ext uri="{FF2B5EF4-FFF2-40B4-BE49-F238E27FC236}">
                <a16:creationId xmlns:a16="http://schemas.microsoft.com/office/drawing/2014/main" id="{E2B18555-5548-426E-8652-62DD9647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27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CA35C2D3-C016-4DA7-A5ED-7D046E1E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14435765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86883781-0D35-41CD-B910-72682B16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987A921-B0EF-4A98-AE32-48A4D5F8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>
            <a:solidFill>
              <a:srgbClr val="2A9D8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9A91A6-4C2C-407E-9824-4EE42E75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Lesson flow after the intro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121C4C7-EE3C-4410-B768-452440FA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Return to the same concept in smaller, faster loops.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DDBDC-EE6F-4BD5-92C8-74591AAD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36E32-2FF9-4606-BDD6-A991BC7A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BC788-8E94-43F7-B996-5A9734A6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Word 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FF507-31C7-4F7C-B54B-284404AD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3390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Sort for c/g sounds; build automaticity.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A0AAA-4746-430B-9C91-315B69C7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9B17B-2670-4D61-BCE9-88240FC1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5AF75-D86F-4328-85C7-E3E17EF7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Wordlist 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1CA5F-0A70-409A-B51B-2EE6E778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6735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Choose lists that match today’s teaching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1607A-798F-4BAD-AB50-BAF6389E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67A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1BB91-16D4-45F9-9E79-A4F1DE80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531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08664-9C4F-4481-A58E-F68EED65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1980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Sentence reading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495A1-4231-4623-8C57-A38EB9AB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0080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Read for accuracy, phrasing, and meaning.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4A772-F0D5-4955-A95D-BBDD7C1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148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229E8-A0A9-4B49-BAC4-52939847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862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AA0D0-3B0F-412B-ADFA-20BFC493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5290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Quick drill in reverse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BFBCB-A424-485D-AC8D-EFEB342A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3390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What says /s/? What says /j/?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947BB-0B11-4D83-8E14-60ADB350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4825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FB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E4E29-D123-49B1-87E2-2F6FF5BC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1970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7FA95-58BE-4FF4-AB14-6743F9CE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8635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Spelling options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44565-4109-4F71-90BC-1108BB75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6735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Use tiles, options, and verification.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B9FFD-DA58-4731-8B3E-E008C399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9817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05CFB-174F-4FA9-B0C2-65BB9170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531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2A7760-EDC6-444F-9C1C-10184980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01980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Written dictation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C7A90D-D953-4734-B090-2A39F643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40080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Mark c/g sounds, syllables, affixes, and bases.</a:t>
            </a:r>
          </a:p>
        </p:txBody>
      </p:sp>
      <p:sp>
        <p:nvSpPr>
          <p:cNvPr id="2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DD44B9EA-4541-4F80-ACCA-D76D894D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30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930072D4-7B55-4F43-A6A2-BB6EAC50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6556798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0D42F878-121C-4E33-BCD9-3A32B535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2"/>
          </a:solidFill>
          <a:ln xmlns:a="http://schemas.openxmlformats.org/drawingml/2006/main">
            <a:solidFill>
              <a:srgbClr val="FFFCF2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7581C38-6AA9-4BD2-B25E-760D40E9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>
            <a:solidFill>
              <a:srgbClr val="E76F5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160719-B8DE-4EE8-804A-D9D0D63F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Exit ticket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52A83F8-573F-4418-A941-DD745AF5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F"/>
                </a:solidFill>
              </a:defRPr>
            </a:pPr>
            <a:r>
              <a:rPr sz="2025">
                <a:solidFill>
                  <a:srgbClr val="5D6D6F"/>
                </a:solidFill>
              </a:rPr>
              <a:t>Students leave with a reason, not just a rule.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FDC14-B9AF-4986-93E1-2B771DD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8020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6D77"/>
                </a:solidFill>
              </a:defRPr>
            </a:pPr>
            <a:r>
              <a:rPr sz="3600" b="1">
                <a:solidFill>
                  <a:srgbClr val="006D77"/>
                </a:solidFill>
              </a:rPr>
              <a:t>Read and explain</a:t>
            </a:r>
          </a:p>
        </p:txBody>
      </p:sp>
      <p:sp>
        <p:nvSpPr>
          <p:cNvPr id="6" name="word-city">
            <a:extLst xmlns:a="http://schemas.openxmlformats.org/drawingml/2006/main">
              <a:ext uri="{FF2B5EF4-FFF2-40B4-BE49-F238E27FC236}">
                <a16:creationId xmlns:a16="http://schemas.microsoft.com/office/drawing/2014/main" id="{92C41BA6-CDA9-4557-848A-404B73D6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6755"/>
            <a:ext cx="3919538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9D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0E057-E4B2-4F1A-B5DB-F16A2432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city</a:t>
            </a:r>
          </a:p>
        </p:txBody>
      </p:sp>
      <p:sp>
        <p:nvSpPr>
          <p:cNvPr id="8" name="word-magic">
            <a:extLst xmlns:a="http://schemas.openxmlformats.org/drawingml/2006/main">
              <a:ext uri="{FF2B5EF4-FFF2-40B4-BE49-F238E27FC236}">
                <a16:creationId xmlns:a16="http://schemas.microsoft.com/office/drawing/2014/main" id="{AF4B3897-3D8F-4F03-ACBD-E2E28C64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088" y="4516755"/>
            <a:ext cx="3919538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F2B21-66B7-400C-B535-F4861D7B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6250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magic</a:t>
            </a:r>
          </a:p>
        </p:txBody>
      </p:sp>
      <p:sp>
        <p:nvSpPr>
          <p:cNvPr id="10" name="word-cycle">
            <a:extLst xmlns:a="http://schemas.openxmlformats.org/drawingml/2006/main">
              <a:ext uri="{FF2B5EF4-FFF2-40B4-BE49-F238E27FC236}">
                <a16:creationId xmlns:a16="http://schemas.microsoft.com/office/drawing/2014/main" id="{D6019BDD-F7D8-4461-8165-9FB80EA9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21655"/>
            <a:ext cx="3919538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9D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38D20-FAD8-40A8-8DA6-0D216A7E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6740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cycle</a:t>
            </a:r>
          </a:p>
        </p:txBody>
      </p:sp>
      <p:sp>
        <p:nvSpPr>
          <p:cNvPr id="12" name="word-suggest">
            <a:extLst xmlns:a="http://schemas.openxmlformats.org/drawingml/2006/main">
              <a:ext uri="{FF2B5EF4-FFF2-40B4-BE49-F238E27FC236}">
                <a16:creationId xmlns:a16="http://schemas.microsoft.com/office/drawing/2014/main" id="{1B28555E-1507-4212-B130-315C6926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088" y="5621655"/>
            <a:ext cx="3919538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D8D2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53AE2-6DF3-4868-BB35-A39CCBD7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6740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63238"/>
                </a:solidFill>
              </a:defRPr>
            </a:pPr>
            <a:r>
              <a:rPr sz="2625" b="1">
                <a:solidFill>
                  <a:srgbClr val="263238"/>
                </a:solidFill>
              </a:rPr>
              <a:t>suggest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A3EA8-999C-4262-B7A1-6F6B8553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24650"/>
            <a:ext cx="802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D6D6F"/>
                </a:solidFill>
              </a:defRPr>
            </a:pPr>
            <a:r>
              <a:rPr sz="2250" b="1">
                <a:solidFill>
                  <a:srgbClr val="5D6D6F"/>
                </a:solidFill>
              </a:rPr>
              <a:t>Prompt: What sound? Why?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66001-9BE7-427C-B821-51E2495E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8020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76F51"/>
                </a:solidFill>
              </a:defRPr>
            </a:pPr>
            <a:r>
              <a:rPr sz="3600" b="1">
                <a:solidFill>
                  <a:srgbClr val="E76F51"/>
                </a:solidFill>
              </a:rPr>
              <a:t>Spell and justify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F7B56-46CD-41D2-9CCF-21557494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767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DF9E9-1F52-464F-A570-8E1F2B77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481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6BE25-41F9-4A6B-B571-FCEE2102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1480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Tap the sounds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4F7C3-40F3-4918-92BE-5851C008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9580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Find the option spot.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E6DA5-C355-4B68-AB07-BE45C5FF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1015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FB3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E9A80-A7F8-4D53-8ECE-7F5B9EF8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8160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E7DF7-3881-47BE-B448-A44EE871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4825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Name the choices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1AD0A-2459-4256-A2CA-B77D9D59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2925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s/c or j/g.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82B85-F03F-478B-9150-E4F9CB6D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9436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7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EBAA3-E507-45D9-BEBD-A1F11744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15050"/>
            <a:ext cx="19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DBE4A-4BB3-4F46-92A0-65B1FAC0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81700"/>
            <a:ext cx="7105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238"/>
                </a:solidFill>
              </a:defRPr>
            </a:pPr>
            <a:r>
              <a:rPr sz="2250" b="1">
                <a:solidFill>
                  <a:srgbClr val="263238"/>
                </a:solidFill>
              </a:rPr>
              <a:t>Check and spell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7AADA9-39F1-428E-BC08-70305182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36270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F"/>
                </a:solidFill>
              </a:defRPr>
            </a:pPr>
            <a:r>
              <a:rPr sz="1800">
                <a:solidFill>
                  <a:srgbClr val="5D6D6F"/>
                </a:solidFill>
              </a:rPr>
              <a:t>Then read it back.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EA93E-A964-42AD-A3BA-15981F43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877050"/>
            <a:ext cx="723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Teacher closes: You found the clue the letter was looking at.</a:t>
            </a:r>
          </a:p>
        </p:txBody>
      </p:sp>
      <p:sp>
        <p:nvSpPr>
          <p:cNvPr id="2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6029A826-378A-47E7-BE0C-4C634C92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D6F"/>
                </a:solidFill>
              </a:defRPr>
            </a:pPr>
            <a:r>
              <a:rPr sz="1425">
                <a:solidFill>
                  <a:srgbClr val="5D6D6F"/>
                </a:solidFill>
              </a:rPr>
              <a:t>Wilson Step 7.1 • user-provided manual excerpt</a:t>
            </a:r>
          </a:p>
        </p:txBody>
      </p:sp>
      <p:sp>
        <p:nvSpPr>
          <p:cNvPr id="30" name="footer-motto">
            <a:extLst xmlns:a="http://schemas.openxmlformats.org/drawingml/2006/main">
              <a:ext uri="{FF2B5EF4-FFF2-40B4-BE49-F238E27FC236}">
                <a16:creationId xmlns:a16="http://schemas.microsoft.com/office/drawing/2014/main" id="{5DF6BE73-F306-43BA-A4F3-A74303B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925830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D77"/>
                </a:solidFill>
              </a:defRPr>
            </a:pPr>
            <a:r>
              <a:rPr sz="1425" b="1">
                <a:solidFill>
                  <a:srgbClr val="006D77"/>
                </a:solidFill>
              </a:rPr>
              <a:t>Discover → Name → Use</a:t>
            </a:r>
          </a:p>
        </p:txBody>
      </p:sp>
    </p:spTree>
    <p:extLst>
      <p:ext uri="{BB962C8B-B14F-4D97-AF65-F5344CB8AC3E}">
        <p14:creationId xmlns:p14="http://schemas.microsoft.com/office/powerpoint/2010/main" val="2005071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2026-04-30T20:49:19.2490000Z</dcterms:created>
  <dcterms:modified xsi:type="dcterms:W3CDTF">2026-04-30T20:49:19.2490000Z</dcterms:modified>
</coreProperties>
</file>
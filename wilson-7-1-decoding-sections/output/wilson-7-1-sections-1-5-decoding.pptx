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>
      <p:cViewPr varScale="1">
        <p:scale>
          <a:sx n="79" d="100"/>
          <a:sy n="79" d="100"/>
        </p:scale>
        <p:origin x="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C817BA-D5F6-4079-B50D-0FCFB148D5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59E43B-E6D1-4A0E-9F94-6F3D3C6888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80F27-8E55-4933-899E-080D2DA7A9CD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9621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Wilson 7.1 Intro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BF0DB-83A6-43F9-9B13-1542F0CEA93D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7543800" cy="2019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263238"/>
                </a:solidFill>
              </a:defRPr>
            </a:pPr>
            <a:r>
              <a:rPr sz="6600" b="1">
                <a:solidFill>
                  <a:srgbClr val="263238"/>
                </a:solidFill>
              </a:rPr>
              <a:t>Decoding Sections 1-5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8A0F0-923C-4384-A534-D53A6E432449}"/>
              </a:ext>
            </a:extLst>
          </p:cNvPr>
          <p:cNvSpPr>
            <a:spLocks noGrp="1"/>
          </p:cNvSpPr>
          <p:nvPr/>
        </p:nvSpPr>
        <p:spPr>
          <a:xfrm>
            <a:off x="876300" y="6343650"/>
            <a:ext cx="78676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607274"/>
                </a:solidFill>
              </a:defRPr>
            </a:pPr>
            <a:r>
              <a:rPr sz="2400">
                <a:solidFill>
                  <a:srgbClr val="607274"/>
                </a:solidFill>
              </a:rPr>
              <a:t>The student discovers how c and g change when the next letter is e, i, or 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DAA91E-10B0-4F58-921B-5BEAFC56ABF9}"/>
              </a:ext>
            </a:extLst>
          </p:cNvPr>
          <p:cNvSpPr>
            <a:spLocks noGrp="1"/>
          </p:cNvSpPr>
          <p:nvPr/>
        </p:nvSpPr>
        <p:spPr>
          <a:xfrm>
            <a:off x="12115800" y="3162300"/>
            <a:ext cx="6286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700" b="1">
                <a:solidFill>
                  <a:srgbClr val="006D77"/>
                </a:solidFill>
              </a:defRPr>
            </a:pPr>
            <a:r>
              <a:rPr sz="8700" b="1">
                <a:solidFill>
                  <a:srgbClr val="006D77"/>
                </a:solidFill>
              </a:rPr>
              <a:t>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3031C4-20EB-4FF6-922E-D1D62AC8C606}"/>
              </a:ext>
            </a:extLst>
          </p:cNvPr>
          <p:cNvSpPr>
            <a:spLocks noGrp="1"/>
          </p:cNvSpPr>
          <p:nvPr/>
        </p:nvSpPr>
        <p:spPr>
          <a:xfrm>
            <a:off x="12921425" y="3619500"/>
            <a:ext cx="11049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0B95BC-C3BD-4770-930F-1D05A149143C}"/>
              </a:ext>
            </a:extLst>
          </p:cNvPr>
          <p:cNvSpPr>
            <a:spLocks noGrp="1"/>
          </p:cNvSpPr>
          <p:nvPr/>
        </p:nvSpPr>
        <p:spPr>
          <a:xfrm>
            <a:off x="12915900" y="3695700"/>
            <a:ext cx="110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 i 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7DF83-755C-4FCD-9D8B-F89382507A24}"/>
              </a:ext>
            </a:extLst>
          </p:cNvPr>
          <p:cNvSpPr>
            <a:spLocks noGrp="1"/>
          </p:cNvSpPr>
          <p:nvPr/>
        </p:nvSpPr>
        <p:spPr>
          <a:xfrm>
            <a:off x="14192250" y="3390900"/>
            <a:ext cx="95250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E76F51"/>
                </a:solidFill>
              </a:defRPr>
            </a:pPr>
            <a:r>
              <a:rPr sz="5850" b="1">
                <a:solidFill>
                  <a:srgbClr val="E76F51"/>
                </a:solidFill>
              </a:rPr>
              <a:t>/s/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02D5C-FBE6-48B7-8A6F-7926102F3661}"/>
              </a:ext>
            </a:extLst>
          </p:cNvPr>
          <p:cNvSpPr>
            <a:spLocks noGrp="1"/>
          </p:cNvSpPr>
          <p:nvPr/>
        </p:nvSpPr>
        <p:spPr>
          <a:xfrm>
            <a:off x="12192000" y="4819650"/>
            <a:ext cx="6667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700" b="1">
                <a:solidFill>
                  <a:srgbClr val="4667A4"/>
                </a:solidFill>
              </a:defRPr>
            </a:pPr>
            <a:r>
              <a:rPr sz="8700" b="1">
                <a:solidFill>
                  <a:srgbClr val="4667A4"/>
                </a:solidFill>
              </a:rPr>
              <a:t>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A82FE0-D9F1-4064-80E0-185F6C7940E1}"/>
              </a:ext>
            </a:extLst>
          </p:cNvPr>
          <p:cNvSpPr>
            <a:spLocks noGrp="1"/>
          </p:cNvSpPr>
          <p:nvPr/>
        </p:nvSpPr>
        <p:spPr>
          <a:xfrm>
            <a:off x="13038582" y="5276850"/>
            <a:ext cx="11049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C1362C-7420-42F4-A700-49097FC33780}"/>
              </a:ext>
            </a:extLst>
          </p:cNvPr>
          <p:cNvSpPr>
            <a:spLocks noGrp="1"/>
          </p:cNvSpPr>
          <p:nvPr/>
        </p:nvSpPr>
        <p:spPr>
          <a:xfrm>
            <a:off x="13030200" y="5353050"/>
            <a:ext cx="110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 i 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605FDD-D67A-4C9F-A387-4E7CCD941659}"/>
              </a:ext>
            </a:extLst>
          </p:cNvPr>
          <p:cNvSpPr>
            <a:spLocks noGrp="1"/>
          </p:cNvSpPr>
          <p:nvPr/>
        </p:nvSpPr>
        <p:spPr>
          <a:xfrm>
            <a:off x="14306550" y="5048250"/>
            <a:ext cx="76200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7C5FB3"/>
                </a:solidFill>
              </a:defRPr>
            </a:pPr>
            <a:r>
              <a:rPr sz="5850" b="1">
                <a:solidFill>
                  <a:srgbClr val="7C5FB3"/>
                </a:solidFill>
              </a:rPr>
              <a:t>/j/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971014-8C90-4839-B4BD-6984934AAB57}"/>
              </a:ext>
            </a:extLst>
          </p:cNvPr>
          <p:cNvSpPr>
            <a:spLocks noGrp="1"/>
          </p:cNvSpPr>
          <p:nvPr/>
        </p:nvSpPr>
        <p:spPr>
          <a:xfrm>
            <a:off x="11658600" y="6477000"/>
            <a:ext cx="39624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Discovery lesson, not a lecture.</a:t>
            </a:r>
          </a:p>
        </p:txBody>
      </p:sp>
    </p:spTree>
    <p:extLst>
      <p:ext uri="{BB962C8B-B14F-4D97-AF65-F5344CB8AC3E}">
        <p14:creationId xmlns:p14="http://schemas.microsoft.com/office/powerpoint/2010/main" val="128579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0494E84-CAE5-4C82-AD1C-47971F0E7C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1A8CF7-794C-4C80-9490-3501D9585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006D77"/>
          </a:solidFill>
          <a:ln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8B1C910-C9B6-4DFF-9635-B55B81E81C91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Lesson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CAD0A6-5AF4-45E8-AE8E-86994206CE80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Each section has a clear job. Section 2 carries the new learning.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A444CC-B54D-4890-B72D-9DB784E77873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C51DEE-1950-4449-B9DC-A32DE77E3FC1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2B19A6-09E5-4C66-9EF2-2B7ACB525B20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7105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Quick Drill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AE7FAB-B477-48A1-A7D9-93E52D6BC610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710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Warm up known sound cards; prime c and g for a new job.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2090CF-065F-4212-8C9D-A96CED3F70B8}"/>
              </a:ext>
            </a:extLst>
          </p:cNvPr>
          <p:cNvSpPr>
            <a:spLocks noGrp="1"/>
          </p:cNvSpPr>
          <p:nvPr/>
        </p:nvSpPr>
        <p:spPr>
          <a:xfrm>
            <a:off x="800100" y="502920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95ACB-58DE-4FE2-A779-9B75BC0F8D10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307A06-5C7A-4675-B84C-471373C185A1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7105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Teach Concept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BCBB16-4BEF-447E-AB74-FE65702AC58D}"/>
              </a:ext>
            </a:extLst>
          </p:cNvPr>
          <p:cNvSpPr>
            <a:spLocks noGrp="1"/>
          </p:cNvSpPr>
          <p:nvPr/>
        </p:nvSpPr>
        <p:spPr>
          <a:xfrm>
            <a:off x="1714500" y="5448300"/>
            <a:ext cx="710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Discover, mark, scoop, and read c/g before e, i, 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B1579E5-A2E3-44F4-ADEA-573FFFF03C5E}"/>
              </a:ext>
            </a:extLst>
          </p:cNvPr>
          <p:cNvSpPr>
            <a:spLocks noGrp="1"/>
          </p:cNvSpPr>
          <p:nvPr/>
        </p:nvSpPr>
        <p:spPr>
          <a:xfrm>
            <a:off x="800100" y="60007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4667A4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B5A08-8D65-413B-B86E-8BF19ECDB6B1}"/>
              </a:ext>
            </a:extLst>
          </p:cNvPr>
          <p:cNvSpPr>
            <a:spLocks noGrp="1"/>
          </p:cNvSpPr>
          <p:nvPr/>
        </p:nvSpPr>
        <p:spPr>
          <a:xfrm>
            <a:off x="800100" y="619125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3FDF4C-2CB4-492F-97A4-27F4429D0F50}"/>
              </a:ext>
            </a:extLst>
          </p:cNvPr>
          <p:cNvSpPr>
            <a:spLocks noGrp="1"/>
          </p:cNvSpPr>
          <p:nvPr/>
        </p:nvSpPr>
        <p:spPr>
          <a:xfrm>
            <a:off x="1714500" y="6057900"/>
            <a:ext cx="7105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Word Cards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1868F-7585-42BB-AD17-ADBF1984E8C1}"/>
              </a:ext>
            </a:extLst>
          </p:cNvPr>
          <p:cNvSpPr>
            <a:spLocks noGrp="1"/>
          </p:cNvSpPr>
          <p:nvPr/>
        </p:nvSpPr>
        <p:spPr>
          <a:xfrm>
            <a:off x="1714500" y="6400800"/>
            <a:ext cx="710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Sort current and review words by c/g sound.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0897C69-F1EE-4061-B20A-FABA3F2A838C}"/>
              </a:ext>
            </a:extLst>
          </p:cNvPr>
          <p:cNvSpPr>
            <a:spLocks noGrp="1"/>
          </p:cNvSpPr>
          <p:nvPr/>
        </p:nvSpPr>
        <p:spPr>
          <a:xfrm>
            <a:off x="9467850" y="384810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7CDE34-75D8-4C3E-83C2-2CBB6C517C55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0788A-3426-4D72-8A6F-D2080A5146A8}"/>
              </a:ext>
            </a:extLst>
          </p:cNvPr>
          <p:cNvSpPr>
            <a:spLocks noGrp="1"/>
          </p:cNvSpPr>
          <p:nvPr/>
        </p:nvSpPr>
        <p:spPr>
          <a:xfrm>
            <a:off x="10382250" y="3905250"/>
            <a:ext cx="7105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Wordlist Reading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77CE2A-6458-4503-BEFE-B0EAD268BEC7}"/>
              </a:ext>
            </a:extLst>
          </p:cNvPr>
          <p:cNvSpPr>
            <a:spLocks noGrp="1"/>
          </p:cNvSpPr>
          <p:nvPr/>
        </p:nvSpPr>
        <p:spPr>
          <a:xfrm>
            <a:off x="10382250" y="4248150"/>
            <a:ext cx="710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Practice first; chart first 7.1 AB wordlist page.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364A806-C6B0-42A4-99A8-953C9FFF9700}"/>
              </a:ext>
            </a:extLst>
          </p:cNvPr>
          <p:cNvSpPr>
            <a:spLocks noGrp="1"/>
          </p:cNvSpPr>
          <p:nvPr/>
        </p:nvSpPr>
        <p:spPr>
          <a:xfrm>
            <a:off x="9467850" y="480060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B0E6E3-87FB-418D-BC5B-B0E6177C8A4A}"/>
              </a:ext>
            </a:extLst>
          </p:cNvPr>
          <p:cNvSpPr>
            <a:spLocks noGrp="1"/>
          </p:cNvSpPr>
          <p:nvPr/>
        </p:nvSpPr>
        <p:spPr>
          <a:xfrm>
            <a:off x="9467850" y="49911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0D73A7-3F23-496A-96AE-7AE1682279B6}"/>
              </a:ext>
            </a:extLst>
          </p:cNvPr>
          <p:cNvSpPr>
            <a:spLocks noGrp="1"/>
          </p:cNvSpPr>
          <p:nvPr/>
        </p:nvSpPr>
        <p:spPr>
          <a:xfrm>
            <a:off x="10382250" y="4876800"/>
            <a:ext cx="7105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Sentence Reading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1C9BB0-955A-4FA0-8898-D68A2BA51344}"/>
              </a:ext>
            </a:extLst>
          </p:cNvPr>
          <p:cNvSpPr>
            <a:spLocks noGrp="1"/>
          </p:cNvSpPr>
          <p:nvPr/>
        </p:nvSpPr>
        <p:spPr>
          <a:xfrm>
            <a:off x="10382250" y="5219700"/>
            <a:ext cx="710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Use the first 7.1 AB sentence page for accuracy, phrasing, meaning.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754AE04-C6FE-4DD1-907B-AEFAD8F3E310}"/>
              </a:ext>
            </a:extLst>
          </p:cNvPr>
          <p:cNvSpPr>
            <a:spLocks noGrp="1"/>
          </p:cNvSpPr>
          <p:nvPr/>
        </p:nvSpPr>
        <p:spPr>
          <a:xfrm>
            <a:off x="9467850" y="5766435"/>
            <a:ext cx="8020050" cy="1200150"/>
          </a:xfrm>
          <a:prstGeom prst="roundRect">
            <a:avLst>
              <a:gd name="adj" fmla="val 6349"/>
            </a:avLst>
          </a:prstGeom>
          <a:solidFill>
            <a:srgbClr val="FFF6DA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A7274C-B03E-48EA-96D5-D2D569A6A543}"/>
              </a:ext>
            </a:extLst>
          </p:cNvPr>
          <p:cNvSpPr>
            <a:spLocks noGrp="1"/>
          </p:cNvSpPr>
          <p:nvPr/>
        </p:nvSpPr>
        <p:spPr>
          <a:xfrm>
            <a:off x="9696450" y="6000750"/>
            <a:ext cx="75628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63238"/>
                </a:solidFill>
              </a:defRPr>
            </a:pPr>
            <a:r>
              <a:rPr sz="1875" b="1">
                <a:solidFill>
                  <a:srgbClr val="263238"/>
                </a:solidFill>
              </a:rPr>
              <a:t>Save subsequent lesson items for later: Latin bases, affixes, nonsense words, and spelling Parts 6-8.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F41DBB-62AF-4468-B15F-C683BD70CF80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2194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Sections 1-5 • Decoding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592236-BF7C-494F-9F8A-69D6F600E7D2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1029125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6039B66-14E4-4D5D-9842-FE96408F39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FADB5A-CC15-492A-BC2D-6461469F31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4385B2A-8550-4B00-90C3-8C1529197028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1: Quick Drill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C15D5-F8CB-4931-BECC-5DD6766D0077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Purpose: wake up the sound system before the new pattern appears.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C3E89E-7A0A-4377-8DAC-3F1150FDF8BF}"/>
              </a:ext>
            </a:extLst>
          </p:cNvPr>
          <p:cNvSpPr>
            <a:spLocks noGrp="1"/>
          </p:cNvSpPr>
          <p:nvPr/>
        </p:nvSpPr>
        <p:spPr>
          <a:xfrm>
            <a:off x="800100" y="412623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129FF-B2B0-4888-8ABF-1843EB9113C4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EC0310-4B2F-402D-A91F-228A0EBC8AF3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68008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E76F51"/>
                </a:solidFill>
              </a:defRPr>
            </a:pPr>
            <a:r>
              <a:rPr sz="4050" b="1">
                <a:solidFill>
                  <a:srgbClr val="E76F51"/>
                </a:solidFill>
              </a:rPr>
              <a:t>Fast, familiar, confident.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BE70D5-1521-47F7-824D-E532F8D68AA4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68008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38"/>
                </a:solidFill>
              </a:defRPr>
            </a:pPr>
            <a:r>
              <a:rPr sz="2175">
                <a:solidFill>
                  <a:srgbClr val="263238"/>
                </a:solidFill>
              </a:rPr>
              <a:t>Flash known cards and keep the pace brisk. Do not teach the new rule here; just prepare the ear and eye.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3AB54-5768-4747-8417-F7B6E649E9CA}"/>
              </a:ext>
            </a:extLst>
          </p:cNvPr>
          <p:cNvSpPr>
            <a:spLocks noGrp="1"/>
          </p:cNvSpPr>
          <p:nvPr/>
        </p:nvSpPr>
        <p:spPr>
          <a:xfrm>
            <a:off x="8275796" y="392430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28ABC-CC71-4448-A0AA-252A1C2C6F5C}"/>
              </a:ext>
            </a:extLst>
          </p:cNvPr>
          <p:cNvSpPr>
            <a:spLocks noGrp="1"/>
          </p:cNvSpPr>
          <p:nvPr/>
        </p:nvSpPr>
        <p:spPr>
          <a:xfrm>
            <a:off x="8267700" y="400050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AE944-31AA-49F5-9CD4-6B6DDBDF24AE}"/>
              </a:ext>
            </a:extLst>
          </p:cNvPr>
          <p:cNvSpPr>
            <a:spLocks noGrp="1"/>
          </p:cNvSpPr>
          <p:nvPr/>
        </p:nvSpPr>
        <p:spPr>
          <a:xfrm>
            <a:off x="9201150" y="3924300"/>
            <a:ext cx="8286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known response: /k/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06991C-1262-4974-A9FC-A81A2FA2D411}"/>
              </a:ext>
            </a:extLst>
          </p:cNvPr>
          <p:cNvSpPr>
            <a:spLocks noGrp="1"/>
          </p:cNvSpPr>
          <p:nvPr/>
        </p:nvSpPr>
        <p:spPr>
          <a:xfrm>
            <a:off x="8275796" y="455295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4667A4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AA1245-84B0-4720-84B5-94FD392FB217}"/>
              </a:ext>
            </a:extLst>
          </p:cNvPr>
          <p:cNvSpPr>
            <a:spLocks noGrp="1"/>
          </p:cNvSpPr>
          <p:nvPr/>
        </p:nvSpPr>
        <p:spPr>
          <a:xfrm>
            <a:off x="8267700" y="46291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E7DAF-121C-4673-A2FF-69F49AE58337}"/>
              </a:ext>
            </a:extLst>
          </p:cNvPr>
          <p:cNvSpPr>
            <a:spLocks noGrp="1"/>
          </p:cNvSpPr>
          <p:nvPr/>
        </p:nvSpPr>
        <p:spPr>
          <a:xfrm>
            <a:off x="9201150" y="4552950"/>
            <a:ext cx="8286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known response: /g/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B727F2-DA9D-4A21-9A06-25055FAD37EB}"/>
              </a:ext>
            </a:extLst>
          </p:cNvPr>
          <p:cNvSpPr>
            <a:spLocks noGrp="1"/>
          </p:cNvSpPr>
          <p:nvPr/>
        </p:nvSpPr>
        <p:spPr>
          <a:xfrm>
            <a:off x="8267700" y="5181600"/>
            <a:ext cx="922020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2177F-8A49-4D11-995B-CA03A85F987E}"/>
              </a:ext>
            </a:extLst>
          </p:cNvPr>
          <p:cNvSpPr>
            <a:spLocks noGrp="1"/>
          </p:cNvSpPr>
          <p:nvPr/>
        </p:nvSpPr>
        <p:spPr>
          <a:xfrm>
            <a:off x="8267700" y="5410200"/>
            <a:ext cx="7143750" cy="1485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225" b="1">
                <a:solidFill>
                  <a:srgbClr val="006D77"/>
                </a:solidFill>
              </a:defRPr>
            </a:pPr>
            <a:r>
              <a:rPr sz="3225" b="1">
                <a:solidFill>
                  <a:srgbClr val="006D77"/>
                </a:solidFill>
              </a:rPr>
              <a:t>Set the hook: Today these letters are going to make us look at the next letter.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E08D13-D7F9-411C-A102-762D6DCFB3AF}"/>
              </a:ext>
            </a:extLst>
          </p:cNvPr>
          <p:cNvSpPr>
            <a:spLocks noGrp="1"/>
          </p:cNvSpPr>
          <p:nvPr/>
        </p:nvSpPr>
        <p:spPr>
          <a:xfrm>
            <a:off x="800100" y="9258300"/>
            <a:ext cx="30099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1 • Quick Drill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526D9C-6CC9-4840-AD0A-40829AD9C5BC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185101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D605AEC-D863-4A0C-963F-AEACD4366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11153C-DEDB-48BE-B127-01E838DF48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4667A4"/>
          </a:solidFill>
          <a:ln>
            <a:solidFill>
              <a:srgbClr val="46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B151AAF-3744-4AB3-9A44-F44982437C33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2A: Discover with magic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255CD1-6BEC-4AAB-9D0E-AFB245DBA924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Build the word with syllable cards. Let the student hear and see the reason.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4E42C2-97CB-4A5D-A9B3-6F52B0BE73BF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2880931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6A654-D05F-4016-A835-A1201E2A2E69}"/>
              </a:ext>
            </a:extLst>
          </p:cNvPr>
          <p:cNvSpPr>
            <a:spLocks noGrp="1"/>
          </p:cNvSpPr>
          <p:nvPr/>
        </p:nvSpPr>
        <p:spPr>
          <a:xfrm>
            <a:off x="971550" y="46101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syllable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6AF5B-3DA8-4787-B7B9-3A4255108D77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2552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mag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03311-1611-4215-BF25-4D9988D2418B}"/>
              </a:ext>
            </a:extLst>
          </p:cNvPr>
          <p:cNvSpPr>
            <a:spLocks noGrp="1"/>
          </p:cNvSpPr>
          <p:nvPr/>
        </p:nvSpPr>
        <p:spPr>
          <a:xfrm>
            <a:off x="3867150" y="4629150"/>
            <a:ext cx="285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607274"/>
                </a:solidFill>
              </a:defRPr>
            </a:pPr>
            <a:r>
              <a:rPr sz="3750" b="1">
                <a:solidFill>
                  <a:srgbClr val="607274"/>
                </a:solidFill>
              </a:rPr>
              <a:t>+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7E6F04-9614-4666-974E-6585C093AE61}"/>
              </a:ext>
            </a:extLst>
          </p:cNvPr>
          <p:cNvSpPr>
            <a:spLocks noGrp="1"/>
          </p:cNvSpPr>
          <p:nvPr/>
        </p:nvSpPr>
        <p:spPr>
          <a:xfrm>
            <a:off x="4347781" y="4438650"/>
            <a:ext cx="2880931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720DC-E1FE-4DCF-A4D5-336023E7F89D}"/>
              </a:ext>
            </a:extLst>
          </p:cNvPr>
          <p:cNvSpPr>
            <a:spLocks noGrp="1"/>
          </p:cNvSpPr>
          <p:nvPr/>
        </p:nvSpPr>
        <p:spPr>
          <a:xfrm>
            <a:off x="4514850" y="46101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syllable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CB23DA-699C-4375-B21D-809FA9C38FEC}"/>
              </a:ext>
            </a:extLst>
          </p:cNvPr>
          <p:cNvSpPr>
            <a:spLocks noGrp="1"/>
          </p:cNvSpPr>
          <p:nvPr/>
        </p:nvSpPr>
        <p:spPr>
          <a:xfrm>
            <a:off x="4514850" y="4781550"/>
            <a:ext cx="2552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AAEB9-E836-4C7A-8423-3215B03B4B8B}"/>
              </a:ext>
            </a:extLst>
          </p:cNvPr>
          <p:cNvSpPr>
            <a:spLocks noGrp="1"/>
          </p:cNvSpPr>
          <p:nvPr/>
        </p:nvSpPr>
        <p:spPr>
          <a:xfrm>
            <a:off x="7410450" y="4191000"/>
            <a:ext cx="1790700" cy="1447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4667A4"/>
                </a:solidFill>
              </a:defRPr>
            </a:pPr>
            <a:r>
              <a:rPr sz="4800" b="1">
                <a:solidFill>
                  <a:srgbClr val="4667A4"/>
                </a:solidFill>
              </a:rPr>
              <a:t>magic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51D99-E594-469B-AD9C-BAF3CD1BA8B7}"/>
              </a:ext>
            </a:extLst>
          </p:cNvPr>
          <p:cNvSpPr>
            <a:spLocks noGrp="1"/>
          </p:cNvSpPr>
          <p:nvPr/>
        </p:nvSpPr>
        <p:spPr>
          <a:xfrm>
            <a:off x="800100" y="5924550"/>
            <a:ext cx="84010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263238"/>
                </a:solidFill>
              </a:defRPr>
            </a:pPr>
            <a:r>
              <a:rPr sz="2325" b="1">
                <a:solidFill>
                  <a:srgbClr val="263238"/>
                </a:solidFill>
              </a:rPr>
              <a:t>The g is followed by i, even though the word has more than one syllable.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36AB89-9372-4DEC-BD70-D9A4C8DE652F}"/>
              </a:ext>
            </a:extLst>
          </p:cNvPr>
          <p:cNvSpPr>
            <a:spLocks noGrp="1"/>
          </p:cNvSpPr>
          <p:nvPr/>
        </p:nvSpPr>
        <p:spPr>
          <a:xfrm>
            <a:off x="9886950" y="3981450"/>
            <a:ext cx="7600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sound does g make in magic?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57AA07-E730-42A1-9803-FC780FDFF2BE}"/>
              </a:ext>
            </a:extLst>
          </p:cNvPr>
          <p:cNvSpPr>
            <a:spLocks noGrp="1"/>
          </p:cNvSpPr>
          <p:nvPr/>
        </p:nvSpPr>
        <p:spPr>
          <a:xfrm>
            <a:off x="9886950" y="43624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33ED23-FDE4-4804-A7BA-50E38D5A229D}"/>
              </a:ext>
            </a:extLst>
          </p:cNvPr>
          <p:cNvSpPr>
            <a:spLocks noGrp="1"/>
          </p:cNvSpPr>
          <p:nvPr/>
        </p:nvSpPr>
        <p:spPr>
          <a:xfrm>
            <a:off x="9886950" y="44386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5260C-6F71-41C6-9113-8DC5F698274E}"/>
              </a:ext>
            </a:extLst>
          </p:cNvPr>
          <p:cNvSpPr>
            <a:spLocks noGrp="1"/>
          </p:cNvSpPr>
          <p:nvPr/>
        </p:nvSpPr>
        <p:spPr>
          <a:xfrm>
            <a:off x="10877550" y="4438650"/>
            <a:ext cx="6610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Student: /j/.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DC9D24-8A9F-4221-814A-9677C98D7983}"/>
              </a:ext>
            </a:extLst>
          </p:cNvPr>
          <p:cNvSpPr>
            <a:spLocks noGrp="1"/>
          </p:cNvSpPr>
          <p:nvPr/>
        </p:nvSpPr>
        <p:spPr>
          <a:xfrm>
            <a:off x="9886950" y="5010150"/>
            <a:ext cx="7600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Why?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DE9C520-1DAA-4DB8-97F3-B641CD1C25A9}"/>
              </a:ext>
            </a:extLst>
          </p:cNvPr>
          <p:cNvSpPr>
            <a:spLocks noGrp="1"/>
          </p:cNvSpPr>
          <p:nvPr/>
        </p:nvSpPr>
        <p:spPr>
          <a:xfrm>
            <a:off x="9886950" y="53911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A8202-7CA2-41EB-979E-D5FE8C7E3151}"/>
              </a:ext>
            </a:extLst>
          </p:cNvPr>
          <p:cNvSpPr>
            <a:spLocks noGrp="1"/>
          </p:cNvSpPr>
          <p:nvPr/>
        </p:nvSpPr>
        <p:spPr>
          <a:xfrm>
            <a:off x="9886950" y="54673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EA202-9474-4F5A-B938-AC13E53D83CA}"/>
              </a:ext>
            </a:extLst>
          </p:cNvPr>
          <p:cNvSpPr>
            <a:spLocks noGrp="1"/>
          </p:cNvSpPr>
          <p:nvPr/>
        </p:nvSpPr>
        <p:spPr>
          <a:xfrm>
            <a:off x="10877550" y="5467350"/>
            <a:ext cx="6610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Because g is followed by 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08E8DB-B069-4076-8EBF-7DA98C57E9A1}"/>
              </a:ext>
            </a:extLst>
          </p:cNvPr>
          <p:cNvSpPr>
            <a:spLocks noGrp="1"/>
          </p:cNvSpPr>
          <p:nvPr/>
        </p:nvSpPr>
        <p:spPr>
          <a:xfrm>
            <a:off x="9886950" y="6038850"/>
            <a:ext cx="7600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Where is the clue?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ADDCAA6-2772-4170-9135-E07C118995F0}"/>
              </a:ext>
            </a:extLst>
          </p:cNvPr>
          <p:cNvSpPr>
            <a:spLocks noGrp="1"/>
          </p:cNvSpPr>
          <p:nvPr/>
        </p:nvSpPr>
        <p:spPr>
          <a:xfrm>
            <a:off x="9886950" y="640080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DCB264-EC68-4A2A-89DA-77BD82F426C5}"/>
              </a:ext>
            </a:extLst>
          </p:cNvPr>
          <p:cNvSpPr>
            <a:spLocks noGrp="1"/>
          </p:cNvSpPr>
          <p:nvPr/>
        </p:nvSpPr>
        <p:spPr>
          <a:xfrm>
            <a:off x="9886950" y="64770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99332B-8046-4729-BA33-F577CA872E76}"/>
              </a:ext>
            </a:extLst>
          </p:cNvPr>
          <p:cNvSpPr>
            <a:spLocks noGrp="1"/>
          </p:cNvSpPr>
          <p:nvPr/>
        </p:nvSpPr>
        <p:spPr>
          <a:xfrm>
            <a:off x="10877550" y="6477000"/>
            <a:ext cx="6610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Point to the letter after 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33CE7-0BEB-4151-BCF0-4EA29334D853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390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2 • Teach Concept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18D1C8-66EB-403D-A3E0-DF007F2AF516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44253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D0853A-DA20-4AED-8225-4C3DA32F20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6247CF-2270-4B88-BC36-B4E373825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7C5FB3"/>
          </a:solidFill>
          <a:ln>
            <a:solidFill>
              <a:srgbClr val="7C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C644AB0-E936-4A46-AF69-E8E36AEB8A30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2B: Mark cent and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F3234-8C14-4B0A-8F0B-D41BF76FCE8D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Now the new response becomes visible.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549E04-E06E-4532-BD06-C9AC8F0A5AB1}"/>
              </a:ext>
            </a:extLst>
          </p:cNvPr>
          <p:cNvSpPr>
            <a:spLocks noGrp="1"/>
          </p:cNvSpPr>
          <p:nvPr/>
        </p:nvSpPr>
        <p:spPr>
          <a:xfrm>
            <a:off x="800100" y="3678555"/>
            <a:ext cx="8001000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833DB-8D3E-491A-82D7-31B8DCAAD606}"/>
              </a:ext>
            </a:extLst>
          </p:cNvPr>
          <p:cNvSpPr>
            <a:spLocks noGrp="1"/>
          </p:cNvSpPr>
          <p:nvPr/>
        </p:nvSpPr>
        <p:spPr>
          <a:xfrm>
            <a:off x="971550" y="3848100"/>
            <a:ext cx="765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/s/ over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E3123-F5DF-42B6-99BA-09B61DD1FFB4}"/>
              </a:ext>
            </a:extLst>
          </p:cNvPr>
          <p:cNvSpPr>
            <a:spLocks noGrp="1"/>
          </p:cNvSpPr>
          <p:nvPr/>
        </p:nvSpPr>
        <p:spPr>
          <a:xfrm>
            <a:off x="971550" y="4019550"/>
            <a:ext cx="7658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6BEC058-F727-4E7A-809D-85350E5D1B7D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496A22-CDBB-483F-BCBD-CA41BBF11746}"/>
              </a:ext>
            </a:extLst>
          </p:cNvPr>
          <p:cNvSpPr>
            <a:spLocks noGrp="1"/>
          </p:cNvSpPr>
          <p:nvPr/>
        </p:nvSpPr>
        <p:spPr>
          <a:xfrm>
            <a:off x="3200400" y="54292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D52332-4087-4005-BB12-4DF7CD62F589}"/>
              </a:ext>
            </a:extLst>
          </p:cNvPr>
          <p:cNvSpPr>
            <a:spLocks noGrp="1"/>
          </p:cNvSpPr>
          <p:nvPr/>
        </p:nvSpPr>
        <p:spPr>
          <a:xfrm>
            <a:off x="4095750" y="535305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98329-5ABE-4BE0-9393-94450A5979D7}"/>
              </a:ext>
            </a:extLst>
          </p:cNvPr>
          <p:cNvSpPr>
            <a:spLocks noGrp="1"/>
          </p:cNvSpPr>
          <p:nvPr/>
        </p:nvSpPr>
        <p:spPr>
          <a:xfrm>
            <a:off x="4095750" y="54292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8966C2-08E1-4905-A674-9032872C21AD}"/>
              </a:ext>
            </a:extLst>
          </p:cNvPr>
          <p:cNvSpPr>
            <a:spLocks noGrp="1"/>
          </p:cNvSpPr>
          <p:nvPr/>
        </p:nvSpPr>
        <p:spPr>
          <a:xfrm>
            <a:off x="4991100" y="4895850"/>
            <a:ext cx="14097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E76F51"/>
                </a:solidFill>
              </a:defRPr>
            </a:pPr>
            <a:r>
              <a:rPr sz="4350" b="1">
                <a:solidFill>
                  <a:srgbClr val="E76F51"/>
                </a:solidFill>
              </a:rPr>
              <a:t>→ /s/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9BD4FE-689C-4CA6-B166-4BBE0EC39B42}"/>
              </a:ext>
            </a:extLst>
          </p:cNvPr>
          <p:cNvSpPr>
            <a:spLocks noGrp="1"/>
          </p:cNvSpPr>
          <p:nvPr/>
        </p:nvSpPr>
        <p:spPr>
          <a:xfrm>
            <a:off x="3143250" y="6496050"/>
            <a:ext cx="33147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607274"/>
                </a:solidFill>
              </a:defRPr>
            </a:pPr>
            <a:r>
              <a:rPr sz="2100" b="1">
                <a:solidFill>
                  <a:srgbClr val="607274"/>
                </a:solidFill>
              </a:rPr>
              <a:t>Read it. Mark it. Explain it.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C5A71A-36A6-460C-A131-AB02B725252F}"/>
              </a:ext>
            </a:extLst>
          </p:cNvPr>
          <p:cNvSpPr>
            <a:spLocks noGrp="1"/>
          </p:cNvSpPr>
          <p:nvPr/>
        </p:nvSpPr>
        <p:spPr>
          <a:xfrm>
            <a:off x="9486900" y="3678555"/>
            <a:ext cx="8001000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D5498-7EC1-4A6D-9609-856A43FEEED3}"/>
              </a:ext>
            </a:extLst>
          </p:cNvPr>
          <p:cNvSpPr>
            <a:spLocks noGrp="1"/>
          </p:cNvSpPr>
          <p:nvPr/>
        </p:nvSpPr>
        <p:spPr>
          <a:xfrm>
            <a:off x="9658350" y="3848100"/>
            <a:ext cx="765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/j/ over 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720355-0DEC-4B17-B6B8-284830CE67C4}"/>
              </a:ext>
            </a:extLst>
          </p:cNvPr>
          <p:cNvSpPr>
            <a:spLocks noGrp="1"/>
          </p:cNvSpPr>
          <p:nvPr/>
        </p:nvSpPr>
        <p:spPr>
          <a:xfrm>
            <a:off x="9658350" y="4019550"/>
            <a:ext cx="7658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stage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A93FE1-67A5-4910-A59D-E16C10632A7C}"/>
              </a:ext>
            </a:extLst>
          </p:cNvPr>
          <p:cNvSpPr>
            <a:spLocks noGrp="1"/>
          </p:cNvSpPr>
          <p:nvPr/>
        </p:nvSpPr>
        <p:spPr>
          <a:xfrm>
            <a:off x="11963400" y="535305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4667A4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B1CB7-8EBA-4F59-AC0D-DC4CDCE7E8AB}"/>
              </a:ext>
            </a:extLst>
          </p:cNvPr>
          <p:cNvSpPr>
            <a:spLocks noGrp="1"/>
          </p:cNvSpPr>
          <p:nvPr/>
        </p:nvSpPr>
        <p:spPr>
          <a:xfrm>
            <a:off x="11963400" y="54292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2B53BF-42A5-409B-A2BB-8B5F32AB7918}"/>
              </a:ext>
            </a:extLst>
          </p:cNvPr>
          <p:cNvSpPr>
            <a:spLocks noGrp="1"/>
          </p:cNvSpPr>
          <p:nvPr/>
        </p:nvSpPr>
        <p:spPr>
          <a:xfrm>
            <a:off x="12858750" y="5353050"/>
            <a:ext cx="7620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EA85A2-DCAC-45B2-B62E-BE8D477656F6}"/>
              </a:ext>
            </a:extLst>
          </p:cNvPr>
          <p:cNvSpPr>
            <a:spLocks noGrp="1"/>
          </p:cNvSpPr>
          <p:nvPr/>
        </p:nvSpPr>
        <p:spPr>
          <a:xfrm>
            <a:off x="12858750" y="54292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607BFC-D813-42DE-8D0B-69A485734CAE}"/>
              </a:ext>
            </a:extLst>
          </p:cNvPr>
          <p:cNvSpPr>
            <a:spLocks noGrp="1"/>
          </p:cNvSpPr>
          <p:nvPr/>
        </p:nvSpPr>
        <p:spPr>
          <a:xfrm>
            <a:off x="13754100" y="4895850"/>
            <a:ext cx="12763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7C5FB3"/>
                </a:solidFill>
              </a:defRPr>
            </a:pPr>
            <a:r>
              <a:rPr sz="4350" b="1">
                <a:solidFill>
                  <a:srgbClr val="7C5FB3"/>
                </a:solidFill>
              </a:rPr>
              <a:t>→ /j/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D66BEB-08F1-4006-99CC-3163ABFD05A4}"/>
              </a:ext>
            </a:extLst>
          </p:cNvPr>
          <p:cNvSpPr>
            <a:spLocks noGrp="1"/>
          </p:cNvSpPr>
          <p:nvPr/>
        </p:nvSpPr>
        <p:spPr>
          <a:xfrm>
            <a:off x="11982450" y="6496050"/>
            <a:ext cx="30099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Avoid: Is it hard or soft?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3ED47E-ED80-451B-B260-9CCB87867902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390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2 • Teach Concept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A86606-143C-416F-8485-B86CC56357BC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160427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7641ED4-16EF-47F4-9729-06CA9859A6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843A47-40AE-4DCF-91E3-15EB9E182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5D50570-5CEF-438C-9082-77A093CC1049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2C: Notebook anchor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01A50-213A-4F51-8FED-3A3EE5F6FD2C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Add the new responses only after the student has discovered the clue.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570614-2979-4AF6-9248-68DD6BFFED37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8048625" cy="7227570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D11DC8-1810-4D6C-9317-2B454391A115}"/>
              </a:ext>
            </a:extLst>
          </p:cNvPr>
          <p:cNvSpPr>
            <a:spLocks noGrp="1"/>
          </p:cNvSpPr>
          <p:nvPr/>
        </p:nvSpPr>
        <p:spPr>
          <a:xfrm>
            <a:off x="1123950" y="2114550"/>
            <a:ext cx="74104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06D77"/>
                </a:solidFill>
              </a:defRPr>
            </a:pPr>
            <a:r>
              <a:rPr sz="1950" b="1">
                <a:solidFill>
                  <a:srgbClr val="006D77"/>
                </a:solidFill>
              </a:rPr>
              <a:t>Sounds section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2CA108-FAE9-4D20-94F6-3DD7F75A4C65}"/>
              </a:ext>
            </a:extLst>
          </p:cNvPr>
          <p:cNvSpPr>
            <a:spLocks noGrp="1"/>
          </p:cNvSpPr>
          <p:nvPr/>
        </p:nvSpPr>
        <p:spPr>
          <a:xfrm>
            <a:off x="1123950" y="2609850"/>
            <a:ext cx="7410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263238"/>
                </a:solidFill>
              </a:defRPr>
            </a:pPr>
            <a:r>
              <a:rPr sz="2250">
                <a:solidFill>
                  <a:srgbClr val="263238"/>
                </a:solidFill>
              </a:rPr>
              <a:t>c: /k/ and /s/ before e, i, or 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898CE-9C8E-4038-8191-7B204D81F5D5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741045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FAAC66-74A5-4D50-9C04-0BBA8AC02579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7410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263238"/>
                </a:solidFill>
              </a:defRPr>
            </a:pPr>
            <a:r>
              <a:rPr sz="2250">
                <a:solidFill>
                  <a:srgbClr val="263238"/>
                </a:solidFill>
              </a:rPr>
              <a:t>g: /g/ and /j/ before e, i, or 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0B517-E16F-48E2-8E17-1C106DF65F95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741045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B22619-8E65-4412-AF22-8ECA9717FB30}"/>
              </a:ext>
            </a:extLst>
          </p:cNvPr>
          <p:cNvSpPr>
            <a:spLocks noGrp="1"/>
          </p:cNvSpPr>
          <p:nvPr/>
        </p:nvSpPr>
        <p:spPr>
          <a:xfrm>
            <a:off x="1123950" y="4095750"/>
            <a:ext cx="7410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07274"/>
                </a:solidFill>
              </a:defRPr>
            </a:pPr>
            <a:r>
              <a:rPr sz="1800">
                <a:solidFill>
                  <a:srgbClr val="607274"/>
                </a:solidFill>
              </a:rPr>
              <a:t>Practice marking: cent, stage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DF0034-462F-43AA-A675-BB40EC94053C}"/>
              </a:ext>
            </a:extLst>
          </p:cNvPr>
          <p:cNvSpPr>
            <a:spLocks noGrp="1"/>
          </p:cNvSpPr>
          <p:nvPr/>
        </p:nvSpPr>
        <p:spPr>
          <a:xfrm>
            <a:off x="9439275" y="1790700"/>
            <a:ext cx="8048625" cy="7227570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087D4C-4805-4770-906A-BAF05C6CB9B0}"/>
              </a:ext>
            </a:extLst>
          </p:cNvPr>
          <p:cNvSpPr>
            <a:spLocks noGrp="1"/>
          </p:cNvSpPr>
          <p:nvPr/>
        </p:nvSpPr>
        <p:spPr>
          <a:xfrm>
            <a:off x="9772650" y="2114550"/>
            <a:ext cx="74104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4667A4"/>
                </a:solidFill>
              </a:defRPr>
            </a:pPr>
            <a:r>
              <a:rPr sz="1950" b="1">
                <a:solidFill>
                  <a:srgbClr val="4667A4"/>
                </a:solidFill>
              </a:rPr>
              <a:t>Jobs of silent 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5EB89ED-F5B2-46EA-8E39-0F479BDBFA56}"/>
              </a:ext>
            </a:extLst>
          </p:cNvPr>
          <p:cNvSpPr>
            <a:spLocks noGrp="1"/>
          </p:cNvSpPr>
          <p:nvPr/>
        </p:nvSpPr>
        <p:spPr>
          <a:xfrm>
            <a:off x="9763125" y="2602230"/>
            <a:ext cx="3614738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6E8C71-07D0-4109-AF0F-7256BD640C00}"/>
              </a:ext>
            </a:extLst>
          </p:cNvPr>
          <p:cNvSpPr>
            <a:spLocks noGrp="1"/>
          </p:cNvSpPr>
          <p:nvPr/>
        </p:nvSpPr>
        <p:spPr>
          <a:xfrm>
            <a:off x="9925050" y="2781300"/>
            <a:ext cx="3276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c = /s/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4BD426-6674-4A0F-977E-6C447D72CD4D}"/>
              </a:ext>
            </a:extLst>
          </p:cNvPr>
          <p:cNvSpPr>
            <a:spLocks noGrp="1"/>
          </p:cNvSpPr>
          <p:nvPr/>
        </p:nvSpPr>
        <p:spPr>
          <a:xfrm>
            <a:off x="9925050" y="2952750"/>
            <a:ext cx="3276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rice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571541-5D48-471A-936C-8358A9867031}"/>
              </a:ext>
            </a:extLst>
          </p:cNvPr>
          <p:cNvSpPr>
            <a:spLocks noGrp="1"/>
          </p:cNvSpPr>
          <p:nvPr/>
        </p:nvSpPr>
        <p:spPr>
          <a:xfrm>
            <a:off x="13549313" y="2602230"/>
            <a:ext cx="3614738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19F83B-881C-4580-AC1C-CFA2B3973F76}"/>
              </a:ext>
            </a:extLst>
          </p:cNvPr>
          <p:cNvSpPr>
            <a:spLocks noGrp="1"/>
          </p:cNvSpPr>
          <p:nvPr/>
        </p:nvSpPr>
        <p:spPr>
          <a:xfrm>
            <a:off x="13716000" y="2781300"/>
            <a:ext cx="3276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g = /j/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267266-403B-4329-99E8-5D8B3DA432AC}"/>
              </a:ext>
            </a:extLst>
          </p:cNvPr>
          <p:cNvSpPr>
            <a:spLocks noGrp="1"/>
          </p:cNvSpPr>
          <p:nvPr/>
        </p:nvSpPr>
        <p:spPr>
          <a:xfrm>
            <a:off x="13716000" y="2952750"/>
            <a:ext cx="3276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DA6544-3638-49B9-B1DC-C671889C3B5A}"/>
              </a:ext>
            </a:extLst>
          </p:cNvPr>
          <p:cNvSpPr>
            <a:spLocks noGrp="1"/>
          </p:cNvSpPr>
          <p:nvPr/>
        </p:nvSpPr>
        <p:spPr>
          <a:xfrm>
            <a:off x="9772650" y="3752850"/>
            <a:ext cx="74104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Student says the response, then explains the following-letter clue.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42399C-418A-4A1D-88F0-C1D9F6B03A8E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390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2 • Teach Concept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5E4F40-EE1E-42AA-99FD-E39EDF9B86DB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8028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7C16F4D-6610-4751-A6D0-4354CF421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163EE-C500-46A4-AF5A-9FB6069BF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4CC2EF5-E7D2-4353-AE92-DB582795EC4F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2D: One word can hold both sounds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C52B6-758A-4BFE-896A-6FA806641AE8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Build, scoop, read, and identify each c or 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8FC4CE-0FC2-43E0-95AC-9F008771D47F}"/>
              </a:ext>
            </a:extLst>
          </p:cNvPr>
          <p:cNvSpPr>
            <a:spLocks noGrp="1"/>
          </p:cNvSpPr>
          <p:nvPr/>
        </p:nvSpPr>
        <p:spPr>
          <a:xfrm>
            <a:off x="800100" y="4360545"/>
            <a:ext cx="8229600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F368E-0BD0-4BDE-88E0-F1D1E46584B9}"/>
              </a:ext>
            </a:extLst>
          </p:cNvPr>
          <p:cNvSpPr>
            <a:spLocks noGrp="1"/>
          </p:cNvSpPr>
          <p:nvPr/>
        </p:nvSpPr>
        <p:spPr>
          <a:xfrm>
            <a:off x="971550" y="4533900"/>
            <a:ext cx="7886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c = /s/ then /k/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86A659-0716-4E25-8BB2-26631F4FE9E4}"/>
              </a:ext>
            </a:extLst>
          </p:cNvPr>
          <p:cNvSpPr>
            <a:spLocks noGrp="1"/>
          </p:cNvSpPr>
          <p:nvPr/>
        </p:nvSpPr>
        <p:spPr>
          <a:xfrm>
            <a:off x="971550" y="4705350"/>
            <a:ext cx="7886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cy • cle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5C4FA6-D904-433F-ABC8-59557C2E34DD}"/>
              </a:ext>
            </a:extLst>
          </p:cNvPr>
          <p:cNvSpPr>
            <a:spLocks noGrp="1"/>
          </p:cNvSpPr>
          <p:nvPr/>
        </p:nvSpPr>
        <p:spPr>
          <a:xfrm>
            <a:off x="9258300" y="4360545"/>
            <a:ext cx="8229600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EC5EFE-A9D0-4334-BD3A-42787E5C3BC1}"/>
              </a:ext>
            </a:extLst>
          </p:cNvPr>
          <p:cNvSpPr>
            <a:spLocks noGrp="1"/>
          </p:cNvSpPr>
          <p:nvPr/>
        </p:nvSpPr>
        <p:spPr>
          <a:xfrm>
            <a:off x="9429750" y="4533900"/>
            <a:ext cx="7886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06D77"/>
                </a:solidFill>
              </a:defRPr>
            </a:pPr>
            <a:r>
              <a:rPr sz="1050" b="1">
                <a:solidFill>
                  <a:srgbClr val="006D77"/>
                </a:solidFill>
              </a:rPr>
              <a:t>g = /g/ then /j/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5876B-B71F-489B-839B-9E55AC56E14D}"/>
              </a:ext>
            </a:extLst>
          </p:cNvPr>
          <p:cNvSpPr>
            <a:spLocks noGrp="1"/>
          </p:cNvSpPr>
          <p:nvPr/>
        </p:nvSpPr>
        <p:spPr>
          <a:xfrm>
            <a:off x="9429750" y="4705350"/>
            <a:ext cx="7886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sug • gest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4F03FB-5AAD-422D-9AFC-1201A5240650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5372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does c say in cycle?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D51281-96CF-4EA1-B339-BFE6A11D4884}"/>
              </a:ext>
            </a:extLst>
          </p:cNvPr>
          <p:cNvSpPr>
            <a:spLocks noGrp="1"/>
          </p:cNvSpPr>
          <p:nvPr/>
        </p:nvSpPr>
        <p:spPr>
          <a:xfrm>
            <a:off x="800100" y="60388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BED755-3DCA-43F6-AD12-A69D53A3C24E}"/>
              </a:ext>
            </a:extLst>
          </p:cNvPr>
          <p:cNvSpPr>
            <a:spLocks noGrp="1"/>
          </p:cNvSpPr>
          <p:nvPr/>
        </p:nvSpPr>
        <p:spPr>
          <a:xfrm>
            <a:off x="800100" y="61150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0787C3-A40E-47D0-91CD-5A0C26F12048}"/>
              </a:ext>
            </a:extLst>
          </p:cNvPr>
          <p:cNvSpPr>
            <a:spLocks noGrp="1"/>
          </p:cNvSpPr>
          <p:nvPr/>
        </p:nvSpPr>
        <p:spPr>
          <a:xfrm>
            <a:off x="1790700" y="61150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First c says /s/ because y follows.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CA1D9F-A6E9-4334-A807-DA3C6B1DD8F5}"/>
              </a:ext>
            </a:extLst>
          </p:cNvPr>
          <p:cNvSpPr>
            <a:spLocks noGrp="1"/>
          </p:cNvSpPr>
          <p:nvPr/>
        </p:nvSpPr>
        <p:spPr>
          <a:xfrm>
            <a:off x="6457950" y="5657850"/>
            <a:ext cx="5372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about the second c?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5EB787-08FE-4E09-8332-3550D7D3F580}"/>
              </a:ext>
            </a:extLst>
          </p:cNvPr>
          <p:cNvSpPr>
            <a:spLocks noGrp="1"/>
          </p:cNvSpPr>
          <p:nvPr/>
        </p:nvSpPr>
        <p:spPr>
          <a:xfrm>
            <a:off x="6457950" y="60388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E78341-3A2C-4CCB-B322-733749F2EB1F}"/>
              </a:ext>
            </a:extLst>
          </p:cNvPr>
          <p:cNvSpPr>
            <a:spLocks noGrp="1"/>
          </p:cNvSpPr>
          <p:nvPr/>
        </p:nvSpPr>
        <p:spPr>
          <a:xfrm>
            <a:off x="6457950" y="61150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177AE0-EAA9-440E-920B-5EFDA2529DA1}"/>
              </a:ext>
            </a:extLst>
          </p:cNvPr>
          <p:cNvSpPr>
            <a:spLocks noGrp="1"/>
          </p:cNvSpPr>
          <p:nvPr/>
        </p:nvSpPr>
        <p:spPr>
          <a:xfrm>
            <a:off x="7448550" y="61150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It says /k/ because e, i, y do not follow.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2B66EF-CDCC-4F3C-93B0-645C1FD9F880}"/>
              </a:ext>
            </a:extLst>
          </p:cNvPr>
          <p:cNvSpPr>
            <a:spLocks noGrp="1"/>
          </p:cNvSpPr>
          <p:nvPr/>
        </p:nvSpPr>
        <p:spPr>
          <a:xfrm>
            <a:off x="12115800" y="5657850"/>
            <a:ext cx="5372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happens in suggest?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34A7D4-689A-4C69-B51B-1EEA51B1BE6F}"/>
              </a:ext>
            </a:extLst>
          </p:cNvPr>
          <p:cNvSpPr>
            <a:spLocks noGrp="1"/>
          </p:cNvSpPr>
          <p:nvPr/>
        </p:nvSpPr>
        <p:spPr>
          <a:xfrm>
            <a:off x="12115800" y="60388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4F1442-64A9-431D-ABC1-856DC4821E83}"/>
              </a:ext>
            </a:extLst>
          </p:cNvPr>
          <p:cNvSpPr>
            <a:spLocks noGrp="1"/>
          </p:cNvSpPr>
          <p:nvPr/>
        </p:nvSpPr>
        <p:spPr>
          <a:xfrm>
            <a:off x="12115800" y="61150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3FE1A-A1CB-49F9-BBFB-58659FD0AEFA}"/>
              </a:ext>
            </a:extLst>
          </p:cNvPr>
          <p:cNvSpPr>
            <a:spLocks noGrp="1"/>
          </p:cNvSpPr>
          <p:nvPr/>
        </p:nvSpPr>
        <p:spPr>
          <a:xfrm>
            <a:off x="13106400" y="61150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Both g sounds appear in the same word.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52415F-2F96-46BA-9546-5ABD3960ADDE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390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2 • Teach Concept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296AD6-18AB-4D64-9CFB-7662836CBED4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43367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FC6366-0749-476E-AE68-8E0B9A1C04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FB1453-3F87-429E-820E-2D6F82F0BE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006D77"/>
          </a:solidFill>
          <a:ln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0C13E33-2D7A-4D5C-BB6A-A4259A735EEB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2E: Apply to longer words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E90E1-FB66-4BD8-82C0-96D8F4ECC6D9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Scoop first. Then mark c and 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D8D275-D39D-430D-ABE4-A6CA4B0028F8}"/>
              </a:ext>
            </a:extLst>
          </p:cNvPr>
          <p:cNvSpPr>
            <a:spLocks noGrp="1"/>
          </p:cNvSpPr>
          <p:nvPr/>
        </p:nvSpPr>
        <p:spPr>
          <a:xfrm>
            <a:off x="800100" y="4168140"/>
            <a:ext cx="82105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2CFFD-F924-4D11-ACBB-CCEB8C5711D7}"/>
              </a:ext>
            </a:extLst>
          </p:cNvPr>
          <p:cNvSpPr>
            <a:spLocks noGrp="1"/>
          </p:cNvSpPr>
          <p:nvPr/>
        </p:nvSpPr>
        <p:spPr>
          <a:xfrm>
            <a:off x="1047750" y="4591050"/>
            <a:ext cx="7715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225" b="1">
                <a:solidFill>
                  <a:srgbClr val="263238"/>
                </a:solidFill>
              </a:defRPr>
            </a:pPr>
            <a:r>
              <a:rPr sz="3225" b="1">
                <a:solidFill>
                  <a:srgbClr val="263238"/>
                </a:solidFill>
              </a:rPr>
              <a:t>con • cen • trate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C4621-5A82-4CB1-B650-E9406A5676A5}"/>
              </a:ext>
            </a:extLst>
          </p:cNvPr>
          <p:cNvSpPr>
            <a:spLocks noGrp="1"/>
          </p:cNvSpPr>
          <p:nvPr/>
        </p:nvSpPr>
        <p:spPr>
          <a:xfrm>
            <a:off x="1047750" y="5162550"/>
            <a:ext cx="7715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Find both c sounds. Explain each.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B70DEE-5F65-4BCE-8B8F-5DD580E7CA01}"/>
              </a:ext>
            </a:extLst>
          </p:cNvPr>
          <p:cNvSpPr>
            <a:spLocks noGrp="1"/>
          </p:cNvSpPr>
          <p:nvPr/>
        </p:nvSpPr>
        <p:spPr>
          <a:xfrm>
            <a:off x="9277350" y="4168140"/>
            <a:ext cx="82105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7B9269-E62A-4987-BD98-A54CC721B853}"/>
              </a:ext>
            </a:extLst>
          </p:cNvPr>
          <p:cNvSpPr>
            <a:spLocks noGrp="1"/>
          </p:cNvSpPr>
          <p:nvPr/>
        </p:nvSpPr>
        <p:spPr>
          <a:xfrm>
            <a:off x="9525000" y="4591050"/>
            <a:ext cx="7715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225" b="1">
                <a:solidFill>
                  <a:srgbClr val="263238"/>
                </a:solidFill>
              </a:defRPr>
            </a:pPr>
            <a:r>
              <a:rPr sz="3225" b="1">
                <a:solidFill>
                  <a:srgbClr val="263238"/>
                </a:solidFill>
              </a:rPr>
              <a:t>gi • gan • tic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3E91C-9DDE-4D0E-AC1A-3E95345FBD7B}"/>
              </a:ext>
            </a:extLst>
          </p:cNvPr>
          <p:cNvSpPr>
            <a:spLocks noGrp="1"/>
          </p:cNvSpPr>
          <p:nvPr/>
        </p:nvSpPr>
        <p:spPr>
          <a:xfrm>
            <a:off x="9525000" y="5162550"/>
            <a:ext cx="7715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Mark g and c after reading.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C367C9-7AC0-454D-BF2D-193AC4B17449}"/>
              </a:ext>
            </a:extLst>
          </p:cNvPr>
          <p:cNvSpPr>
            <a:spLocks noGrp="1"/>
          </p:cNvSpPr>
          <p:nvPr/>
        </p:nvSpPr>
        <p:spPr>
          <a:xfrm>
            <a:off x="800100" y="6153150"/>
            <a:ext cx="166878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225" b="1">
                <a:solidFill>
                  <a:srgbClr val="006D77"/>
                </a:solidFill>
              </a:defRPr>
            </a:pPr>
            <a:r>
              <a:rPr sz="3225" b="1">
                <a:solidFill>
                  <a:srgbClr val="006D77"/>
                </a:solidFill>
              </a:rPr>
              <a:t>Teacher weave: What sound does the letter make in this word? Why?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396B3-C169-4D0C-B5F4-7225AA2F6A17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390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2 • Teach Concept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4895B-BAFD-431B-B130-A061C784730F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1018513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DB6E44D-FE40-4F71-A718-7FA7F8DF14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8D16A-A364-4315-8750-E7C18D145E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4667A4"/>
          </a:solidFill>
          <a:ln>
            <a:solidFill>
              <a:srgbClr val="46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A60063C-A49B-4A92-8875-CA41E74194C9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3: Word Cards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66A57-2B6C-4C27-8C02-5C9640FA4AE3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Use review words for automaticity, then current cards for the new c/g concept.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9ECE79-2633-4817-8308-913E071D4481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9525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917F06-6FD5-46C7-8DA1-EB9C2797F78C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c=/k/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2FA99-F7FB-4067-887D-F0DD08C2B04D}"/>
              </a:ext>
            </a:extLst>
          </p:cNvPr>
          <p:cNvSpPr>
            <a:spLocks noGrp="1"/>
          </p:cNvSpPr>
          <p:nvPr/>
        </p:nvSpPr>
        <p:spPr>
          <a:xfrm>
            <a:off x="1847850" y="18669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c sound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4A8C8E-21BD-43BD-ABC0-ABB3377196EF}"/>
              </a:ext>
            </a:extLst>
          </p:cNvPr>
          <p:cNvSpPr>
            <a:spLocks noGrp="1"/>
          </p:cNvSpPr>
          <p:nvPr/>
        </p:nvSpPr>
        <p:spPr>
          <a:xfrm>
            <a:off x="800100" y="233362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8515B-5D53-4C8B-9F87-774ED137AEAD}"/>
              </a:ext>
            </a:extLst>
          </p:cNvPr>
          <p:cNvSpPr>
            <a:spLocks noGrp="1"/>
          </p:cNvSpPr>
          <p:nvPr/>
        </p:nvSpPr>
        <p:spPr>
          <a:xfrm>
            <a:off x="971550" y="25908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call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AB36D9-447A-4DFD-BDB5-23ED5240E80E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7AC26-5534-4743-8E56-E83073B99608}"/>
              </a:ext>
            </a:extLst>
          </p:cNvPr>
          <p:cNvSpPr>
            <a:spLocks noGrp="1"/>
          </p:cNvSpPr>
          <p:nvPr/>
        </p:nvSpPr>
        <p:spPr>
          <a:xfrm>
            <a:off x="971550" y="36576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contact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C10CC6-7064-4E48-9AB4-92D432904CCC}"/>
              </a:ext>
            </a:extLst>
          </p:cNvPr>
          <p:cNvSpPr>
            <a:spLocks noGrp="1"/>
          </p:cNvSpPr>
          <p:nvPr/>
        </p:nvSpPr>
        <p:spPr>
          <a:xfrm>
            <a:off x="800100" y="448627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F5A49B-243F-4565-A6A6-2A47811F0660}"/>
              </a:ext>
            </a:extLst>
          </p:cNvPr>
          <p:cNvSpPr>
            <a:spLocks noGrp="1"/>
          </p:cNvSpPr>
          <p:nvPr/>
        </p:nvSpPr>
        <p:spPr>
          <a:xfrm>
            <a:off x="971550" y="474345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volcano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E538712-7B5B-423A-94F6-3896F3CBFECE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952500" cy="4191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9269A-FDB6-4BA9-A557-67AD4CEF5F75}"/>
              </a:ext>
            </a:extLst>
          </p:cNvPr>
          <p:cNvSpPr>
            <a:spLocks noGrp="1"/>
          </p:cNvSpPr>
          <p:nvPr/>
        </p:nvSpPr>
        <p:spPr>
          <a:xfrm>
            <a:off x="5029200" y="18669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c=/s/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E57893-6EFB-4294-8F84-83E787317285}"/>
              </a:ext>
            </a:extLst>
          </p:cNvPr>
          <p:cNvSpPr>
            <a:spLocks noGrp="1"/>
          </p:cNvSpPr>
          <p:nvPr/>
        </p:nvSpPr>
        <p:spPr>
          <a:xfrm>
            <a:off x="6076950" y="18669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c sound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5EBF4A-9A6F-422B-A7B3-D72358D44E02}"/>
              </a:ext>
            </a:extLst>
          </p:cNvPr>
          <p:cNvSpPr>
            <a:spLocks noGrp="1"/>
          </p:cNvSpPr>
          <p:nvPr/>
        </p:nvSpPr>
        <p:spPr>
          <a:xfrm>
            <a:off x="5029200" y="233362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7536E-E5D1-4F7D-9074-C10E3E0EC432}"/>
              </a:ext>
            </a:extLst>
          </p:cNvPr>
          <p:cNvSpPr>
            <a:spLocks noGrp="1"/>
          </p:cNvSpPr>
          <p:nvPr/>
        </p:nvSpPr>
        <p:spPr>
          <a:xfrm>
            <a:off x="5200650" y="25908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B8A3BFF-BE02-4C74-87D1-3A203F3EDB03}"/>
              </a:ext>
            </a:extLst>
          </p:cNvPr>
          <p:cNvSpPr>
            <a:spLocks noGrp="1"/>
          </p:cNvSpPr>
          <p:nvPr/>
        </p:nvSpPr>
        <p:spPr>
          <a:xfrm>
            <a:off x="5029200" y="3409950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25C75E-23B5-45FC-B322-3EBB668301FB}"/>
              </a:ext>
            </a:extLst>
          </p:cNvPr>
          <p:cNvSpPr>
            <a:spLocks noGrp="1"/>
          </p:cNvSpPr>
          <p:nvPr/>
        </p:nvSpPr>
        <p:spPr>
          <a:xfrm>
            <a:off x="5200650" y="36576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civil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E8E1331-BC24-4DE2-BEB3-36924C1E5A23}"/>
              </a:ext>
            </a:extLst>
          </p:cNvPr>
          <p:cNvSpPr>
            <a:spLocks noGrp="1"/>
          </p:cNvSpPr>
          <p:nvPr/>
        </p:nvSpPr>
        <p:spPr>
          <a:xfrm>
            <a:off x="5029200" y="448627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FE9D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6A9726-F05F-4C78-849C-3912CEB2486B}"/>
              </a:ext>
            </a:extLst>
          </p:cNvPr>
          <p:cNvSpPr>
            <a:spLocks noGrp="1"/>
          </p:cNvSpPr>
          <p:nvPr/>
        </p:nvSpPr>
        <p:spPr>
          <a:xfrm>
            <a:off x="5200650" y="474345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decide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22488FC-CA5E-461C-89EC-0BEC25BA32D1}"/>
              </a:ext>
            </a:extLst>
          </p:cNvPr>
          <p:cNvSpPr>
            <a:spLocks noGrp="1"/>
          </p:cNvSpPr>
          <p:nvPr/>
        </p:nvSpPr>
        <p:spPr>
          <a:xfrm>
            <a:off x="9258300" y="1790700"/>
            <a:ext cx="952500" cy="419100"/>
          </a:xfrm>
          <a:prstGeom prst="roundRect">
            <a:avLst>
              <a:gd name="adj" fmla="val 50000"/>
            </a:avLst>
          </a:prstGeom>
          <a:solidFill>
            <a:srgbClr val="4667A4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6F77F-862C-4EC6-85CC-EE86380777B4}"/>
              </a:ext>
            </a:extLst>
          </p:cNvPr>
          <p:cNvSpPr>
            <a:spLocks noGrp="1"/>
          </p:cNvSpPr>
          <p:nvPr/>
        </p:nvSpPr>
        <p:spPr>
          <a:xfrm>
            <a:off x="9258300" y="18669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g=/g/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EB2A0C-166E-4686-8703-DDC1986DB6EC}"/>
              </a:ext>
            </a:extLst>
          </p:cNvPr>
          <p:cNvSpPr>
            <a:spLocks noGrp="1"/>
          </p:cNvSpPr>
          <p:nvPr/>
        </p:nvSpPr>
        <p:spPr>
          <a:xfrm>
            <a:off x="10306050" y="18669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g sound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95A91B7-94A8-4EFE-8F0E-AA6CF3E07FAE}"/>
              </a:ext>
            </a:extLst>
          </p:cNvPr>
          <p:cNvSpPr>
            <a:spLocks noGrp="1"/>
          </p:cNvSpPr>
          <p:nvPr/>
        </p:nvSpPr>
        <p:spPr>
          <a:xfrm>
            <a:off x="9258300" y="233362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FA8250-3AF0-4080-BE2E-87D86F26DCBE}"/>
              </a:ext>
            </a:extLst>
          </p:cNvPr>
          <p:cNvSpPr>
            <a:spLocks noGrp="1"/>
          </p:cNvSpPr>
          <p:nvPr/>
        </p:nvSpPr>
        <p:spPr>
          <a:xfrm>
            <a:off x="9429750" y="25908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gum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1A757C-8B8E-4397-89B1-6C41BC3D1563}"/>
              </a:ext>
            </a:extLst>
          </p:cNvPr>
          <p:cNvSpPr>
            <a:spLocks noGrp="1"/>
          </p:cNvSpPr>
          <p:nvPr/>
        </p:nvSpPr>
        <p:spPr>
          <a:xfrm>
            <a:off x="9258300" y="3409950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C34F30-C04E-4EE3-86DB-6820FD8A8755}"/>
              </a:ext>
            </a:extLst>
          </p:cNvPr>
          <p:cNvSpPr>
            <a:spLocks noGrp="1"/>
          </p:cNvSpPr>
          <p:nvPr/>
        </p:nvSpPr>
        <p:spPr>
          <a:xfrm>
            <a:off x="9429750" y="36576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grand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3D8A80B-7236-49FB-8F93-C1E1B9EA829D}"/>
              </a:ext>
            </a:extLst>
          </p:cNvPr>
          <p:cNvSpPr>
            <a:spLocks noGrp="1"/>
          </p:cNvSpPr>
          <p:nvPr/>
        </p:nvSpPr>
        <p:spPr>
          <a:xfrm>
            <a:off x="9258300" y="448627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9F0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486092-97E0-4C92-80B7-12D5210AAB27}"/>
              </a:ext>
            </a:extLst>
          </p:cNvPr>
          <p:cNvSpPr>
            <a:spLocks noGrp="1"/>
          </p:cNvSpPr>
          <p:nvPr/>
        </p:nvSpPr>
        <p:spPr>
          <a:xfrm>
            <a:off x="9429750" y="474345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golden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3D6F7C1-AC0E-47C6-B1B4-B34D82A86793}"/>
              </a:ext>
            </a:extLst>
          </p:cNvPr>
          <p:cNvSpPr>
            <a:spLocks noGrp="1"/>
          </p:cNvSpPr>
          <p:nvPr/>
        </p:nvSpPr>
        <p:spPr>
          <a:xfrm>
            <a:off x="13487400" y="1790700"/>
            <a:ext cx="952500" cy="41910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D4A3D1-2386-40B4-B513-9C8388F6C68C}"/>
              </a:ext>
            </a:extLst>
          </p:cNvPr>
          <p:cNvSpPr>
            <a:spLocks noGrp="1"/>
          </p:cNvSpPr>
          <p:nvPr/>
        </p:nvSpPr>
        <p:spPr>
          <a:xfrm>
            <a:off x="13487400" y="18669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g=/j/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52527D-2A66-4506-BE4D-FFA11BD5D3BE}"/>
              </a:ext>
            </a:extLst>
          </p:cNvPr>
          <p:cNvSpPr>
            <a:spLocks noGrp="1"/>
          </p:cNvSpPr>
          <p:nvPr/>
        </p:nvSpPr>
        <p:spPr>
          <a:xfrm>
            <a:off x="14535150" y="18669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g sound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5636038-3E3E-4621-8A7D-A31EE97C7DEA}"/>
              </a:ext>
            </a:extLst>
          </p:cNvPr>
          <p:cNvSpPr>
            <a:spLocks noGrp="1"/>
          </p:cNvSpPr>
          <p:nvPr/>
        </p:nvSpPr>
        <p:spPr>
          <a:xfrm>
            <a:off x="13487400" y="233362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6EFDFC-1066-4ED1-A9A2-92E8C5907985}"/>
              </a:ext>
            </a:extLst>
          </p:cNvPr>
          <p:cNvSpPr>
            <a:spLocks noGrp="1"/>
          </p:cNvSpPr>
          <p:nvPr/>
        </p:nvSpPr>
        <p:spPr>
          <a:xfrm>
            <a:off x="13658850" y="25908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stage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A4A2A31-F7C7-4707-90A5-2BB572EA954F}"/>
              </a:ext>
            </a:extLst>
          </p:cNvPr>
          <p:cNvSpPr>
            <a:spLocks noGrp="1"/>
          </p:cNvSpPr>
          <p:nvPr/>
        </p:nvSpPr>
        <p:spPr>
          <a:xfrm>
            <a:off x="13487400" y="3409950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D4CDE2-97BB-4760-8936-87C11777BBC6}"/>
              </a:ext>
            </a:extLst>
          </p:cNvPr>
          <p:cNvSpPr>
            <a:spLocks noGrp="1"/>
          </p:cNvSpPr>
          <p:nvPr/>
        </p:nvSpPr>
        <p:spPr>
          <a:xfrm>
            <a:off x="13658850" y="365760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digest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2209D88-3B20-4B4D-B16E-99B2998450F0}"/>
              </a:ext>
            </a:extLst>
          </p:cNvPr>
          <p:cNvSpPr>
            <a:spLocks noGrp="1"/>
          </p:cNvSpPr>
          <p:nvPr/>
        </p:nvSpPr>
        <p:spPr>
          <a:xfrm>
            <a:off x="13487400" y="4486275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AD0A9F-7982-4B65-8627-E8657EEB765B}"/>
              </a:ext>
            </a:extLst>
          </p:cNvPr>
          <p:cNvSpPr>
            <a:spLocks noGrp="1"/>
          </p:cNvSpPr>
          <p:nvPr/>
        </p:nvSpPr>
        <p:spPr>
          <a:xfrm>
            <a:off x="13658850" y="4743450"/>
            <a:ext cx="3657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63238"/>
                </a:solidFill>
              </a:defRPr>
            </a:pPr>
            <a:r>
              <a:rPr sz="2925" b="1">
                <a:solidFill>
                  <a:srgbClr val="263238"/>
                </a:solidFill>
              </a:rPr>
              <a:t>gene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005C2C-ED73-468E-9FC3-D7181082847D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143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3 • Word Cards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757D7A-EB42-457F-A44D-2D4BF8FE53A5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449944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810C686-1C38-4BEB-941C-85E61BD740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E2878-D15A-4081-AF7B-6B42164AB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7C5FB3"/>
          </a:solidFill>
          <a:ln>
            <a:solidFill>
              <a:srgbClr val="7C5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5711187-A626-4529-9D73-3DFAF3F5B0FA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4: Wordlist Reading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76AA5-BBE3-4DDD-AB3D-07443D884025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Use the first 7.1 AB reader wordlist page for practice and charting.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A94902-52B1-4C15-BE78-89EF3E5D1B97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D2C0D5-C780-4304-9F5B-9393568B98D0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19FD7B-1335-43EA-A5A0-2F5E638076B8}"/>
              </a:ext>
            </a:extLst>
          </p:cNvPr>
          <p:cNvSpPr>
            <a:spLocks noGrp="1"/>
          </p:cNvSpPr>
          <p:nvPr/>
        </p:nvSpPr>
        <p:spPr>
          <a:xfrm>
            <a:off x="1714500" y="4000500"/>
            <a:ext cx="6972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Practice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6EF5-3397-425F-84A7-E351273389FD}"/>
              </a:ext>
            </a:extLst>
          </p:cNvPr>
          <p:cNvSpPr>
            <a:spLocks noGrp="1"/>
          </p:cNvSpPr>
          <p:nvPr/>
        </p:nvSpPr>
        <p:spPr>
          <a:xfrm>
            <a:off x="1714500" y="4343400"/>
            <a:ext cx="69723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Choose 5-6 words from the first AB wordlist that match today’s concept.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93C2E2-743F-4262-82F7-CF3D32E817FC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F49AE6-54B1-45E3-94C7-18DE0B8FD6C8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51182-75D3-4D8A-B558-D55FA43D5DC0}"/>
              </a:ext>
            </a:extLst>
          </p:cNvPr>
          <p:cNvSpPr>
            <a:spLocks noGrp="1"/>
          </p:cNvSpPr>
          <p:nvPr/>
        </p:nvSpPr>
        <p:spPr>
          <a:xfrm>
            <a:off x="1714500" y="5162550"/>
            <a:ext cx="6972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786C42-522E-4BCF-88BE-045CAE343C4A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6972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Read 15 words aloud from the first AB charting page.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932888-45BC-44B8-BCD4-72F108058C27}"/>
              </a:ext>
            </a:extLst>
          </p:cNvPr>
          <p:cNvSpPr>
            <a:spLocks noGrp="1"/>
          </p:cNvSpPr>
          <p:nvPr/>
        </p:nvSpPr>
        <p:spPr>
          <a:xfrm>
            <a:off x="800100" y="60769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9E47B-C936-414E-B521-0A2898844B22}"/>
              </a:ext>
            </a:extLst>
          </p:cNvPr>
          <p:cNvSpPr>
            <a:spLocks noGrp="1"/>
          </p:cNvSpPr>
          <p:nvPr/>
        </p:nvSpPr>
        <p:spPr>
          <a:xfrm>
            <a:off x="800100" y="6267450"/>
            <a:ext cx="76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9C9FC-195C-4B55-9FEB-2DA0C13C170A}"/>
              </a:ext>
            </a:extLst>
          </p:cNvPr>
          <p:cNvSpPr>
            <a:spLocks noGrp="1"/>
          </p:cNvSpPr>
          <p:nvPr/>
        </p:nvSpPr>
        <p:spPr>
          <a:xfrm>
            <a:off x="1714500" y="6134100"/>
            <a:ext cx="6972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Correct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33025-5342-4826-97C4-405E9690B096}"/>
              </a:ext>
            </a:extLst>
          </p:cNvPr>
          <p:cNvSpPr>
            <a:spLocks noGrp="1"/>
          </p:cNvSpPr>
          <p:nvPr/>
        </p:nvSpPr>
        <p:spPr>
          <a:xfrm>
            <a:off x="1714500" y="6477000"/>
            <a:ext cx="6972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07274"/>
                </a:solidFill>
              </a:defRPr>
            </a:pPr>
            <a:r>
              <a:rPr sz="1725">
                <a:solidFill>
                  <a:srgbClr val="607274"/>
                </a:solidFill>
              </a:rPr>
              <a:t>Record errors, discuss the clue, and reread accurately.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99939F-4027-4AF9-879D-FCE4C701565B}"/>
              </a:ext>
            </a:extLst>
          </p:cNvPr>
          <p:cNvSpPr>
            <a:spLocks noGrp="1"/>
          </p:cNvSpPr>
          <p:nvPr/>
        </p:nvSpPr>
        <p:spPr>
          <a:xfrm>
            <a:off x="9288018" y="1790700"/>
            <a:ext cx="8199882" cy="7227570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149C3E-AB68-420B-AA29-6434568A1B32}"/>
              </a:ext>
            </a:extLst>
          </p:cNvPr>
          <p:cNvSpPr>
            <a:spLocks noGrp="1"/>
          </p:cNvSpPr>
          <p:nvPr/>
        </p:nvSpPr>
        <p:spPr>
          <a:xfrm>
            <a:off x="9563100" y="2057400"/>
            <a:ext cx="7658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5FB3"/>
                </a:solidFill>
              </a:defRPr>
            </a:pPr>
            <a:r>
              <a:rPr sz="2100" b="1">
                <a:solidFill>
                  <a:srgbClr val="7C5FB3"/>
                </a:solidFill>
              </a:rPr>
              <a:t>Charting focus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F812D7-7ED1-426A-BBA9-775E22B0D765}"/>
              </a:ext>
            </a:extLst>
          </p:cNvPr>
          <p:cNvSpPr>
            <a:spLocks noGrp="1"/>
          </p:cNvSpPr>
          <p:nvPr/>
        </p:nvSpPr>
        <p:spPr>
          <a:xfrm>
            <a:off x="9554718" y="2567940"/>
            <a:ext cx="781050" cy="419100"/>
          </a:xfrm>
          <a:prstGeom prst="roundRect">
            <a:avLst>
              <a:gd name="adj" fmla="val 50000"/>
            </a:avLst>
          </a:prstGeom>
          <a:solidFill>
            <a:srgbClr val="7C5FB3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ADBA4E-7FD3-4A6F-AEC8-939E888A5FEC}"/>
              </a:ext>
            </a:extLst>
          </p:cNvPr>
          <p:cNvSpPr>
            <a:spLocks noGrp="1"/>
          </p:cNvSpPr>
          <p:nvPr/>
        </p:nvSpPr>
        <p:spPr>
          <a:xfrm>
            <a:off x="9544050" y="2647950"/>
            <a:ext cx="800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4FFB36-17FF-418B-A022-270BDE6B8EB2}"/>
              </a:ext>
            </a:extLst>
          </p:cNvPr>
          <p:cNvSpPr>
            <a:spLocks noGrp="1"/>
          </p:cNvSpPr>
          <p:nvPr/>
        </p:nvSpPr>
        <p:spPr>
          <a:xfrm>
            <a:off x="10477500" y="2571750"/>
            <a:ext cx="6743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first 7.1 wordlist page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6330FD-9248-422A-B3A0-E44335FBBA3C}"/>
              </a:ext>
            </a:extLst>
          </p:cNvPr>
          <p:cNvSpPr>
            <a:spLocks noGrp="1"/>
          </p:cNvSpPr>
          <p:nvPr/>
        </p:nvSpPr>
        <p:spPr>
          <a:xfrm>
            <a:off x="9563100" y="3181350"/>
            <a:ext cx="765810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85CDFD-CE16-414A-8B62-4163E7C29A3B}"/>
              </a:ext>
            </a:extLst>
          </p:cNvPr>
          <p:cNvSpPr>
            <a:spLocks noGrp="1"/>
          </p:cNvSpPr>
          <p:nvPr/>
        </p:nvSpPr>
        <p:spPr>
          <a:xfrm>
            <a:off x="9563100" y="3390900"/>
            <a:ext cx="76581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Start with real words containing c=/s/ and g=/j/; mix hard and soft c/g after the student is steady.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BBA365-F648-4420-94F7-D18C6F943F4A}"/>
              </a:ext>
            </a:extLst>
          </p:cNvPr>
          <p:cNvSpPr>
            <a:spLocks noGrp="1"/>
          </p:cNvSpPr>
          <p:nvPr/>
        </p:nvSpPr>
        <p:spPr>
          <a:xfrm>
            <a:off x="9563100" y="4210050"/>
            <a:ext cx="7658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Do not chart nonsense words yet in the intro lesson.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97FE70-7220-4AF3-8456-2BE6663E1228}"/>
              </a:ext>
            </a:extLst>
          </p:cNvPr>
          <p:cNvSpPr>
            <a:spLocks noGrp="1"/>
          </p:cNvSpPr>
          <p:nvPr/>
        </p:nvSpPr>
        <p:spPr>
          <a:xfrm>
            <a:off x="800100" y="9372600"/>
            <a:ext cx="3524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4 • Wordlist Reading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9D5621-8750-4A87-B64F-0010004FEBA8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2090853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CFD06FD-3130-4565-8854-33C11E4EB2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6992A9-6D0D-400B-957F-67844A9478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B2003FF-9B2C-4C6B-9793-96DCF3E9DDA1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Section 5: Sentence Reading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5CC633-C3F8-4047-B440-4BB598B5645A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Use the first 7.1 AB sentence page to connect decoding to meaning.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EE8D20-9992-4443-9322-33042CF81A2A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8190167" cy="7227570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905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CE7A2C-9E48-460C-8125-5E8DF0163585}"/>
              </a:ext>
            </a:extLst>
          </p:cNvPr>
          <p:cNvSpPr>
            <a:spLocks noGrp="1"/>
          </p:cNvSpPr>
          <p:nvPr/>
        </p:nvSpPr>
        <p:spPr>
          <a:xfrm>
            <a:off x="1085850" y="2076450"/>
            <a:ext cx="7620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A9D8F"/>
                </a:solidFill>
              </a:defRPr>
            </a:pPr>
            <a:r>
              <a:rPr sz="2100" b="1">
                <a:solidFill>
                  <a:srgbClr val="2A9D8F"/>
                </a:solidFill>
              </a:rPr>
              <a:t>AB sentence 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0C35CC-4014-4457-BBCA-D5CD99556EB9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7620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Read silently first, then aloud one sentence at a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89F69-7975-452F-8FF2-BEDA98A4EAC0}"/>
              </a:ext>
            </a:extLst>
          </p:cNvPr>
          <p:cNvSpPr>
            <a:spLocks noGrp="1"/>
          </p:cNvSpPr>
          <p:nvPr/>
        </p:nvSpPr>
        <p:spPr>
          <a:xfrm>
            <a:off x="1085850" y="3105150"/>
            <a:ext cx="762000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BE037-FBEC-4F74-A900-27EFBC035E6B}"/>
              </a:ext>
            </a:extLst>
          </p:cNvPr>
          <p:cNvSpPr>
            <a:spLocks noGrp="1"/>
          </p:cNvSpPr>
          <p:nvPr/>
        </p:nvSpPr>
        <p:spPr>
          <a:xfrm>
            <a:off x="1085850" y="3314700"/>
            <a:ext cx="7620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38"/>
                </a:solidFill>
              </a:defRPr>
            </a:pPr>
            <a:r>
              <a:rPr sz="2100">
                <a:solidFill>
                  <a:srgbClr val="263238"/>
                </a:solidFill>
              </a:rPr>
              <a:t>Focus: accurate word reading, phrasing, prosody, and meaning.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F5EAD-D62F-42D7-98C9-1559C79CDC83}"/>
              </a:ext>
            </a:extLst>
          </p:cNvPr>
          <p:cNvSpPr>
            <a:spLocks noGrp="1"/>
          </p:cNvSpPr>
          <p:nvPr/>
        </p:nvSpPr>
        <p:spPr>
          <a:xfrm>
            <a:off x="1085850" y="3810000"/>
            <a:ext cx="7620000" cy="19050"/>
          </a:xfrm>
          <a:prstGeom prst="rect">
            <a:avLst/>
          </a:prstGeom>
          <a:solidFill>
            <a:srgbClr val="D8D2BF"/>
          </a:solidFill>
          <a:ln w="0">
            <a:solidFill>
              <a:srgbClr val="D8D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0A460-4291-4CC9-8946-BEDE846714D3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7620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Weave concept questions into the sentence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BE8FA-DC2A-47DB-8F66-3DD7B9665E8C}"/>
              </a:ext>
            </a:extLst>
          </p:cNvPr>
          <p:cNvSpPr>
            <a:spLocks noGrp="1"/>
          </p:cNvSpPr>
          <p:nvPr/>
        </p:nvSpPr>
        <p:spPr>
          <a:xfrm>
            <a:off x="9620250" y="39814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Before reading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31BF2E-4F1C-4C43-A0D9-BC197D6AA0A2}"/>
              </a:ext>
            </a:extLst>
          </p:cNvPr>
          <p:cNvSpPr>
            <a:spLocks noGrp="1"/>
          </p:cNvSpPr>
          <p:nvPr/>
        </p:nvSpPr>
        <p:spPr>
          <a:xfrm>
            <a:off x="9618917" y="43624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106D02-DD97-4C10-963F-882E2230B5CC}"/>
              </a:ext>
            </a:extLst>
          </p:cNvPr>
          <p:cNvSpPr>
            <a:spLocks noGrp="1"/>
          </p:cNvSpPr>
          <p:nvPr/>
        </p:nvSpPr>
        <p:spPr>
          <a:xfrm>
            <a:off x="9620250" y="44386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2A7F67-AB6F-4D1C-8D4B-6006F47AB3A0}"/>
              </a:ext>
            </a:extLst>
          </p:cNvPr>
          <p:cNvSpPr>
            <a:spLocks noGrp="1"/>
          </p:cNvSpPr>
          <p:nvPr/>
        </p:nvSpPr>
        <p:spPr>
          <a:xfrm>
            <a:off x="10610850" y="4438650"/>
            <a:ext cx="6877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Review high frequency and untaught words at the top of the page.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EF152F-2532-40F0-A1DA-904D17A91412}"/>
              </a:ext>
            </a:extLst>
          </p:cNvPr>
          <p:cNvSpPr>
            <a:spLocks noGrp="1"/>
          </p:cNvSpPr>
          <p:nvPr/>
        </p:nvSpPr>
        <p:spPr>
          <a:xfrm>
            <a:off x="9620250" y="50101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During reading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CF9055-ABA2-4DCA-AFF1-8AD8D660751D}"/>
              </a:ext>
            </a:extLst>
          </p:cNvPr>
          <p:cNvSpPr>
            <a:spLocks noGrp="1"/>
          </p:cNvSpPr>
          <p:nvPr/>
        </p:nvSpPr>
        <p:spPr>
          <a:xfrm>
            <a:off x="9618917" y="53911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AA1359-7BBD-41A3-9BED-E1CCDBD42474}"/>
              </a:ext>
            </a:extLst>
          </p:cNvPr>
          <p:cNvSpPr>
            <a:spLocks noGrp="1"/>
          </p:cNvSpPr>
          <p:nvPr/>
        </p:nvSpPr>
        <p:spPr>
          <a:xfrm>
            <a:off x="9620250" y="54673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B3D670-CF84-4ED2-A215-7739FA7BBC10}"/>
              </a:ext>
            </a:extLst>
          </p:cNvPr>
          <p:cNvSpPr>
            <a:spLocks noGrp="1"/>
          </p:cNvSpPr>
          <p:nvPr/>
        </p:nvSpPr>
        <p:spPr>
          <a:xfrm>
            <a:off x="10610850" y="5467350"/>
            <a:ext cx="6877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Pencil phrasing when needed; keep meaning alive.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BE045F-7D9C-4CC0-968D-E69414A1F82B}"/>
              </a:ext>
            </a:extLst>
          </p:cNvPr>
          <p:cNvSpPr>
            <a:spLocks noGrp="1"/>
          </p:cNvSpPr>
          <p:nvPr/>
        </p:nvSpPr>
        <p:spPr>
          <a:xfrm>
            <a:off x="9620250" y="6038850"/>
            <a:ext cx="7867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After reading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A5D75F-2CB7-4D79-ABFB-2805F11B64B7}"/>
              </a:ext>
            </a:extLst>
          </p:cNvPr>
          <p:cNvSpPr>
            <a:spLocks noGrp="1"/>
          </p:cNvSpPr>
          <p:nvPr/>
        </p:nvSpPr>
        <p:spPr>
          <a:xfrm>
            <a:off x="9618917" y="640080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F04D24-DFC3-46BA-AD5A-A57C88324A65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BD240-E8A4-4D84-B0CB-B2F9E2B87D52}"/>
              </a:ext>
            </a:extLst>
          </p:cNvPr>
          <p:cNvSpPr>
            <a:spLocks noGrp="1"/>
          </p:cNvSpPr>
          <p:nvPr/>
        </p:nvSpPr>
        <p:spPr>
          <a:xfrm>
            <a:off x="10610850" y="6477000"/>
            <a:ext cx="6877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Ask: What sound did c or g make? Why?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D272C6-3ED1-4FFB-A927-401573F4DFAA}"/>
              </a:ext>
            </a:extLst>
          </p:cNvPr>
          <p:cNvSpPr>
            <a:spLocks noGrp="1"/>
          </p:cNvSpPr>
          <p:nvPr/>
        </p:nvSpPr>
        <p:spPr>
          <a:xfrm>
            <a:off x="800100" y="9258300"/>
            <a:ext cx="3638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 5 • Sentence Reading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8912A2-AC8D-4717-A193-3BF1C2E3858F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99302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956796D-ECCC-4E76-8CE4-E1539CA10A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CF2"/>
          </a:solidFill>
          <a:ln>
            <a:solidFill>
              <a:srgbClr val="FFF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15A90-C38C-45ED-A8F0-D01D851FF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7FD9D6F-74F0-4659-AEBC-1B053236F866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1668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263238"/>
                </a:solidFill>
              </a:defRPr>
            </a:pPr>
            <a:r>
              <a:rPr sz="3750" b="1">
                <a:solidFill>
                  <a:srgbClr val="263238"/>
                </a:solidFill>
              </a:rPr>
              <a:t>Teacher weave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03178D-832B-48FB-81DB-898C7F1B58EC}"/>
              </a:ext>
            </a:extLst>
          </p:cNvPr>
          <p:cNvSpPr>
            <a:spLocks noGrp="1"/>
          </p:cNvSpPr>
          <p:nvPr/>
        </p:nvSpPr>
        <p:spPr>
          <a:xfrm>
            <a:off x="800100" y="1257300"/>
            <a:ext cx="1668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07274"/>
                </a:solidFill>
              </a:defRPr>
            </a:pPr>
            <a:r>
              <a:rPr sz="1875">
                <a:solidFill>
                  <a:srgbClr val="607274"/>
                </a:solidFill>
              </a:rPr>
              <a:t>The strongest question is small and specific.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63BD9-1311-4518-9F7B-E0459F299B6E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8020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006D77"/>
                </a:solidFill>
              </a:defRPr>
            </a:pPr>
            <a:r>
              <a:rPr sz="3750" b="1">
                <a:solidFill>
                  <a:srgbClr val="006D77"/>
                </a:solidFill>
              </a:rPr>
              <a:t>Use these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90201-0365-4FD0-AF54-EF5501573F80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8020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sound does c or g make?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396FE0-084D-4FBD-BD91-E080FA1B6A35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006D77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010F22-7ADD-44E7-AA4F-0EB8542C387B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BC6C3-B0EE-4CD8-A72F-F308158DD5CA}"/>
              </a:ext>
            </a:extLst>
          </p:cNvPr>
          <p:cNvSpPr>
            <a:spLocks noGrp="1"/>
          </p:cNvSpPr>
          <p:nvPr/>
        </p:nvSpPr>
        <p:spPr>
          <a:xfrm>
            <a:off x="1790700" y="4838700"/>
            <a:ext cx="7029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Student names the sound.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FA133-2B78-464E-8FF1-CE67AD437E46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8020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What letter follows it?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A8D128-F605-44F9-97A8-5109719BEF56}"/>
              </a:ext>
            </a:extLst>
          </p:cNvPr>
          <p:cNvSpPr>
            <a:spLocks noGrp="1"/>
          </p:cNvSpPr>
          <p:nvPr/>
        </p:nvSpPr>
        <p:spPr>
          <a:xfrm>
            <a:off x="800100" y="579120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69D39-2887-4CB9-BD73-3EEE794DA605}"/>
              </a:ext>
            </a:extLst>
          </p:cNvPr>
          <p:cNvSpPr>
            <a:spLocks noGrp="1"/>
          </p:cNvSpPr>
          <p:nvPr/>
        </p:nvSpPr>
        <p:spPr>
          <a:xfrm>
            <a:off x="800100" y="586740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21BAD6-37C9-4B07-B006-95AFF48CB138}"/>
              </a:ext>
            </a:extLst>
          </p:cNvPr>
          <p:cNvSpPr>
            <a:spLocks noGrp="1"/>
          </p:cNvSpPr>
          <p:nvPr/>
        </p:nvSpPr>
        <p:spPr>
          <a:xfrm>
            <a:off x="1790700" y="5867400"/>
            <a:ext cx="7029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Student points to the clue.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5B3F63-6641-46B9-81C3-50961B95F2E6}"/>
              </a:ext>
            </a:extLst>
          </p:cNvPr>
          <p:cNvSpPr>
            <a:spLocks noGrp="1"/>
          </p:cNvSpPr>
          <p:nvPr/>
        </p:nvSpPr>
        <p:spPr>
          <a:xfrm>
            <a:off x="800100" y="6438900"/>
            <a:ext cx="8020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63238"/>
                </a:solidFill>
              </a:defRPr>
            </a:pPr>
            <a:r>
              <a:rPr sz="1950" b="1">
                <a:solidFill>
                  <a:srgbClr val="263238"/>
                </a:solidFill>
              </a:rPr>
              <a:t>Why?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E6A82B-F300-413C-9902-4C6244E359E2}"/>
              </a:ext>
            </a:extLst>
          </p:cNvPr>
          <p:cNvSpPr>
            <a:spLocks noGrp="1"/>
          </p:cNvSpPr>
          <p:nvPr/>
        </p:nvSpPr>
        <p:spPr>
          <a:xfrm>
            <a:off x="800100" y="6800850"/>
            <a:ext cx="876300" cy="4191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AD71F2-11EE-456C-9451-369F82AD0852}"/>
              </a:ext>
            </a:extLst>
          </p:cNvPr>
          <p:cNvSpPr>
            <a:spLocks noGrp="1"/>
          </p:cNvSpPr>
          <p:nvPr/>
        </p:nvSpPr>
        <p:spPr>
          <a:xfrm>
            <a:off x="800100" y="6877050"/>
            <a:ext cx="87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058596-7922-45FA-A5D0-CECB67D4D268}"/>
              </a:ext>
            </a:extLst>
          </p:cNvPr>
          <p:cNvSpPr>
            <a:spLocks noGrp="1"/>
          </p:cNvSpPr>
          <p:nvPr/>
        </p:nvSpPr>
        <p:spPr>
          <a:xfrm>
            <a:off x="1790700" y="6877050"/>
            <a:ext cx="7029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07274"/>
                </a:solidFill>
              </a:defRPr>
            </a:pPr>
            <a:r>
              <a:rPr sz="1650">
                <a:solidFill>
                  <a:srgbClr val="607274"/>
                </a:solidFill>
              </a:rPr>
              <a:t>Student explains the rule in context.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6374B-231D-4B77-B377-6AA4CADBCD38}"/>
              </a:ext>
            </a:extLst>
          </p:cNvPr>
          <p:cNvSpPr>
            <a:spLocks noGrp="1"/>
          </p:cNvSpPr>
          <p:nvPr/>
        </p:nvSpPr>
        <p:spPr>
          <a:xfrm>
            <a:off x="9486900" y="3981450"/>
            <a:ext cx="8020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E76F51"/>
                </a:solidFill>
              </a:defRPr>
            </a:pPr>
            <a:r>
              <a:rPr sz="3750" b="1">
                <a:solidFill>
                  <a:srgbClr val="E76F51"/>
                </a:solidFill>
              </a:rPr>
              <a:t>Avoid this shortcut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72839B5-0779-4DE4-9AEE-7EC5A2AC73BE}"/>
              </a:ext>
            </a:extLst>
          </p:cNvPr>
          <p:cNvSpPr>
            <a:spLocks noGrp="1"/>
          </p:cNvSpPr>
          <p:nvPr/>
        </p:nvSpPr>
        <p:spPr>
          <a:xfrm>
            <a:off x="9477375" y="4775835"/>
            <a:ext cx="8010525" cy="1143000"/>
          </a:xfrm>
          <a:prstGeom prst="roundRect">
            <a:avLst>
              <a:gd name="adj" fmla="val 6667"/>
            </a:avLst>
          </a:prstGeom>
          <a:solidFill>
            <a:srgbClr val="FFE9DF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5D948B-C80C-4E63-A93C-BFF06BE70E25}"/>
              </a:ext>
            </a:extLst>
          </p:cNvPr>
          <p:cNvSpPr>
            <a:spLocks noGrp="1"/>
          </p:cNvSpPr>
          <p:nvPr/>
        </p:nvSpPr>
        <p:spPr>
          <a:xfrm>
            <a:off x="9715500" y="501015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63238"/>
                </a:solidFill>
              </a:defRPr>
            </a:pPr>
            <a:r>
              <a:rPr sz="2550" b="1">
                <a:solidFill>
                  <a:srgbClr val="263238"/>
                </a:solidFill>
              </a:rPr>
              <a:t>Is it hard or soft?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EC57BC-C57B-49D8-8B13-BCFE6E2497A8}"/>
              </a:ext>
            </a:extLst>
          </p:cNvPr>
          <p:cNvSpPr>
            <a:spLocks noGrp="1"/>
          </p:cNvSpPr>
          <p:nvPr/>
        </p:nvSpPr>
        <p:spPr>
          <a:xfrm>
            <a:off x="9486900" y="6153150"/>
            <a:ext cx="80200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263238"/>
                </a:solidFill>
              </a:defRPr>
            </a:pPr>
            <a:r>
              <a:rPr sz="2250">
                <a:solidFill>
                  <a:srgbClr val="263238"/>
                </a:solidFill>
              </a:rPr>
              <a:t>That label can come later. The intro lesson is about noticing the sound and proving the reason.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2FE748-0D9E-419A-AB0F-6CE20BEC0ACF}"/>
              </a:ext>
            </a:extLst>
          </p:cNvPr>
          <p:cNvSpPr>
            <a:spLocks noGrp="1"/>
          </p:cNvSpPr>
          <p:nvPr/>
        </p:nvSpPr>
        <p:spPr>
          <a:xfrm>
            <a:off x="800100" y="9258300"/>
            <a:ext cx="3810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07274"/>
                </a:solidFill>
              </a:defRPr>
            </a:pPr>
            <a:r>
              <a:rPr sz="1350">
                <a:solidFill>
                  <a:srgbClr val="607274"/>
                </a:solidFill>
              </a:rPr>
              <a:t>Wilson 7.1 Intro • Sections 1-5 • Weave Questions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D57466-F959-4444-9E29-2AD78847C0BC}"/>
              </a:ext>
            </a:extLst>
          </p:cNvPr>
          <p:cNvSpPr>
            <a:spLocks noGrp="1"/>
          </p:cNvSpPr>
          <p:nvPr/>
        </p:nvSpPr>
        <p:spPr>
          <a:xfrm>
            <a:off x="15582900" y="9258300"/>
            <a:ext cx="1905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6D77"/>
                </a:solidFill>
              </a:defRPr>
            </a:pPr>
            <a:r>
              <a:rPr sz="1350" b="1">
                <a:solidFill>
                  <a:srgbClr val="006D77"/>
                </a:solidFill>
              </a:rPr>
              <a:t>Notice → Mark → Read</a:t>
            </a:r>
          </a:p>
        </p:txBody>
      </p:sp>
    </p:spTree>
    <p:extLst>
      <p:ext uri="{BB962C8B-B14F-4D97-AF65-F5344CB8AC3E}">
        <p14:creationId xmlns:p14="http://schemas.microsoft.com/office/powerpoint/2010/main" val="2139577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Microsoft Macintosh PowerPoint</Application>
  <DocSecurity>0</DocSecurity>
  <PresentationFormat>Custom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Figueroa Manrique, Gustavo A</cp:lastModifiedBy>
  <cp:revision>1</cp:revision>
  <dcterms:created xsi:type="dcterms:W3CDTF">2026-05-01T03:32:17Z</dcterms:created>
  <dcterms:modified xsi:type="dcterms:W3CDTF">2026-05-04T17:49:10Z</dcterms:modified>
</cp:coreProperties>
</file>